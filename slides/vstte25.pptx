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73" r:id="rId3"/>
    <p:sldId id="274" r:id="rId4"/>
    <p:sldId id="258" r:id="rId5"/>
    <p:sldId id="259" r:id="rId6"/>
    <p:sldId id="288" r:id="rId7"/>
    <p:sldId id="261" r:id="rId8"/>
    <p:sldId id="262" r:id="rId9"/>
    <p:sldId id="263" r:id="rId10"/>
    <p:sldId id="275" r:id="rId11"/>
    <p:sldId id="264" r:id="rId12"/>
    <p:sldId id="265" r:id="rId13"/>
    <p:sldId id="267" r:id="rId14"/>
    <p:sldId id="268" r:id="rId15"/>
    <p:sldId id="266" r:id="rId16"/>
    <p:sldId id="276" r:id="rId17"/>
    <p:sldId id="269" r:id="rId18"/>
    <p:sldId id="291" r:id="rId19"/>
    <p:sldId id="289" r:id="rId20"/>
    <p:sldId id="271" r:id="rId21"/>
    <p:sldId id="272" r:id="rId22"/>
    <p:sldId id="277" r:id="rId23"/>
    <p:sldId id="279" r:id="rId24"/>
    <p:sldId id="280" r:id="rId25"/>
    <p:sldId id="282" r:id="rId26"/>
    <p:sldId id="284" r:id="rId27"/>
    <p:sldId id="283" r:id="rId28"/>
    <p:sldId id="285" r:id="rId29"/>
    <p:sldId id="286" r:id="rId30"/>
    <p:sldId id="292" r:id="rId31"/>
    <p:sldId id="260" r:id="rId32"/>
    <p:sldId id="290" r:id="rId33"/>
    <p:sldId id="281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eader" id="{EE6496CE-1B6E-8142-A0E7-B305BBB2EE85}">
          <p14:sldIdLst>
            <p14:sldId id="256"/>
          </p14:sldIdLst>
        </p14:section>
        <p14:section name="Motivation &amp; Solution" id="{F84822CE-8669-364D-A68C-2DF9D7359C94}">
          <p14:sldIdLst>
            <p14:sldId id="273"/>
            <p14:sldId id="274"/>
            <p14:sldId id="258"/>
            <p14:sldId id="259"/>
            <p14:sldId id="288"/>
            <p14:sldId id="261"/>
          </p14:sldIdLst>
        </p14:section>
        <p14:section name="DBM" id="{4B47C852-61D2-2442-AB2E-C0940F9D25D0}">
          <p14:sldIdLst>
            <p14:sldId id="262"/>
            <p14:sldId id="263"/>
            <p14:sldId id="275"/>
          </p14:sldIdLst>
        </p14:section>
        <p14:section name="tDBM" id="{C7C7FB24-3FE3-4C4D-984D-78616B928836}">
          <p14:sldIdLst>
            <p14:sldId id="264"/>
            <p14:sldId id="265"/>
            <p14:sldId id="267"/>
            <p14:sldId id="268"/>
            <p14:sldId id="266"/>
            <p14:sldId id="276"/>
            <p14:sldId id="269"/>
            <p14:sldId id="291"/>
            <p14:sldId id="289"/>
          </p14:sldIdLst>
        </p14:section>
        <p14:section name="Abstract Domain" id="{EE095D4C-53B0-E949-8DCF-3EFB59FFD98B}">
          <p14:sldIdLst>
            <p14:sldId id="271"/>
            <p14:sldId id="272"/>
            <p14:sldId id="277"/>
            <p14:sldId id="279"/>
          </p14:sldIdLst>
        </p14:section>
        <p14:section name="Implementation &amp; Experiments" id="{D46F779E-75F5-0A46-815B-F43DE6A983C6}">
          <p14:sldIdLst>
            <p14:sldId id="280"/>
            <p14:sldId id="282"/>
            <p14:sldId id="284"/>
            <p14:sldId id="283"/>
            <p14:sldId id="285"/>
          </p14:sldIdLst>
        </p14:section>
        <p14:section name="Footer" id="{3D5C0A6A-E199-1949-B989-AFD784D57C5B}">
          <p14:sldIdLst>
            <p14:sldId id="286"/>
            <p14:sldId id="292"/>
          </p14:sldIdLst>
        </p14:section>
        <p14:section name="Backups" id="{6F5E27A4-89EC-5043-859C-6B0283201034}">
          <p14:sldIdLst>
            <p14:sldId id="260"/>
            <p14:sldId id="29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506BC7-C2CD-DE4D-8B8B-8A3DB564A588}" v="452" dt="2025-10-06T16:43:41.2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67347"/>
  </p:normalViewPr>
  <p:slideViewPr>
    <p:cSldViewPr snapToGrid="0">
      <p:cViewPr varScale="1">
        <p:scale>
          <a:sx n="84" d="100"/>
          <a:sy n="84" d="100"/>
        </p:scale>
        <p:origin x="19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D83E1A-97D8-4949-A269-AC6721F459F3}" type="datetimeFigureOut">
              <a:rPr lang="en-US" smtClean="0"/>
              <a:t>10/6/25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C1A47F-A8D6-7141-8995-7524C57AE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032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I’m Yusen Su, a PhD student from the University of Waterloo.</a:t>
            </a:r>
          </a:p>
          <a:p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I’m here to talk about a new weakly relational abstract domain, </a:t>
            </a:r>
          </a:p>
          <a:p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called “Template DBM”, for efficient memory access validation.</a:t>
            </a:r>
            <a:b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joint work with Jorge Navas from [Ser-TOR-ah] and my supervisor Arie Gurfinkel.</a:t>
            </a:r>
          </a:p>
          <a:p>
            <a:endParaRPr lang="en-C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this talk, I will cover the high-level design of our new domain </a:t>
            </a:r>
          </a:p>
          <a:p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some of the key operations. More details of the explanation can be found in our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1A47F-A8D6-7141-8995-7524C57AEF8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0632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this work, we are doing static analysis, which computes semantic properties for programs.</a:t>
            </a:r>
          </a:p>
          <a:p>
            <a:endParaRPr lang="en-C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Specifically, we are interested in relational properties between variables.</a:t>
            </a:r>
          </a:p>
          <a:p>
            <a:endParaRPr lang="en-C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want our analysis for memory safety, </a:t>
            </a:r>
          </a:p>
          <a:p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programs like C contain assertion checks for buffer overflow.</a:t>
            </a:r>
            <a:b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analysis is based on abstract interpretation, which uses an abstract domain to represent properties. </a:t>
            </a:r>
          </a:p>
          <a:p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domain itself contains operations for program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1A47F-A8D6-7141-8995-7524C57AEF8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2945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BE8C6-1800-8CC9-A844-B3363AB4D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090DBE-1E69-EE83-1FD0-A8040AD4CB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FC0887-7B2F-B46E-58E9-712C896C2E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To understand our goal, let’s look at one example.</a:t>
            </a:r>
          </a:p>
          <a:p>
            <a:r>
              <a:rPr lang="en-CA" dirty="0"/>
              <a:t>Say we have a C program with two inputs: </a:t>
            </a:r>
            <a:r>
              <a:rPr lang="en-CA" b="1" dirty="0"/>
              <a:t>length</a:t>
            </a:r>
            <a:r>
              <a:rPr lang="en-CA" dirty="0"/>
              <a:t> and </a:t>
            </a:r>
            <a:r>
              <a:rPr lang="en-CA" b="1" dirty="0"/>
              <a:t>index</a:t>
            </a:r>
            <a:r>
              <a:rPr lang="en-CA" dirty="0"/>
              <a:t>.</a:t>
            </a:r>
          </a:p>
          <a:p>
            <a:br>
              <a:rPr lang="en-CA" dirty="0"/>
            </a:br>
            <a:r>
              <a:rPr lang="en-US" dirty="0"/>
              <a:t>In the main function, we create an object L that stores an array list. </a:t>
            </a:r>
          </a:p>
          <a:p>
            <a:r>
              <a:rPr lang="en-US" dirty="0"/>
              <a:t>The C struct contains four fields: </a:t>
            </a:r>
          </a:p>
          <a:p>
            <a:r>
              <a:rPr lang="en-US" dirty="0"/>
              <a:t>data (pointer to buffer), cap (allocated size), </a:t>
            </a:r>
            <a:r>
              <a:rPr lang="en-US" dirty="0" err="1"/>
              <a:t>len</a:t>
            </a:r>
            <a:r>
              <a:rPr lang="en-US" dirty="0"/>
              <a:t> (number of stored items), and </a:t>
            </a:r>
            <a:r>
              <a:rPr lang="en-US" dirty="0" err="1"/>
              <a:t>item_size</a:t>
            </a:r>
            <a:r>
              <a:rPr lang="en-US" dirty="0"/>
              <a:t> (bytes per item). </a:t>
            </a:r>
          </a:p>
          <a:p>
            <a:r>
              <a:rPr lang="en-US" dirty="0"/>
              <a:t>We initialize L to use the entire buffer: </a:t>
            </a:r>
          </a:p>
          <a:p>
            <a:endParaRPr lang="en-US" dirty="0"/>
          </a:p>
          <a:p>
            <a:r>
              <a:rPr lang="en-US" dirty="0"/>
              <a:t>Treat L as an integer array.</a:t>
            </a:r>
          </a:p>
          <a:p>
            <a:endParaRPr lang="en-CA" dirty="0"/>
          </a:p>
          <a:p>
            <a:r>
              <a:rPr lang="en-CA" dirty="0"/>
              <a:t>We also assume there are some codes for initializing such an array on line 14.</a:t>
            </a:r>
            <a:br>
              <a:rPr lang="en-CA" dirty="0"/>
            </a:br>
            <a:r>
              <a:rPr lang="en-CA" dirty="0"/>
              <a:t>After all initialization, at line 16. The object L in the memory is like this.</a:t>
            </a:r>
          </a:p>
          <a:p>
            <a:r>
              <a:rPr lang="en-CA" dirty="0"/>
              <a:t>We have relational properties between </a:t>
            </a:r>
            <a:r>
              <a:rPr lang="en-CA" dirty="0" err="1"/>
              <a:t>len</a:t>
            </a:r>
            <a:r>
              <a:rPr lang="en-CA" dirty="0"/>
              <a:t> and size.</a:t>
            </a:r>
          </a:p>
          <a:p>
            <a:endParaRPr lang="en-CA" dirty="0"/>
          </a:p>
          <a:p>
            <a:r>
              <a:rPr lang="en-CA" dirty="0"/>
              <a:t>Now, we are interested in pointer properties. </a:t>
            </a:r>
          </a:p>
          <a:p>
            <a:r>
              <a:rPr lang="en-CA" dirty="0"/>
              <a:t>[Click]</a:t>
            </a:r>
            <a:br>
              <a:rPr lang="en-CA" dirty="0"/>
            </a:br>
            <a:br>
              <a:rPr lang="en-CA" dirty="0"/>
            </a:br>
            <a:r>
              <a:rPr lang="en-CA" dirty="0"/>
              <a:t>So, we consider pointers with extra information: </a:t>
            </a:r>
          </a:p>
          <a:p>
            <a:r>
              <a:rPr lang="en-CA" dirty="0"/>
              <a:t>Each pointer associates with an offset for the current position</a:t>
            </a:r>
          </a:p>
          <a:p>
            <a:r>
              <a:rPr lang="en-CA" dirty="0"/>
              <a:t>And the size is for the allocation size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FE47C-B84F-BBA3-563B-AC497CDBF0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1A47F-A8D6-7141-8995-7524C57AEF8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4667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Now we look at the rest of the code after initialization.</a:t>
            </a:r>
          </a:p>
          <a:p>
            <a:endParaRPr lang="en-US" altLang="zh-CN" dirty="0"/>
          </a:p>
          <a:p>
            <a:r>
              <a:rPr lang="en-US" altLang="zh-CN" dirty="0"/>
              <a:t>We want to get an item from the array list by calling this </a:t>
            </a:r>
            <a:r>
              <a:rPr lang="en-US" altLang="zh-CN" dirty="0" err="1"/>
              <a:t>get_at</a:t>
            </a:r>
            <a:r>
              <a:rPr lang="en-US" altLang="zh-CN" dirty="0"/>
              <a:t> function.</a:t>
            </a:r>
          </a:p>
          <a:p>
            <a:r>
              <a:rPr lang="en-US" altLang="zh-CN" dirty="0"/>
              <a:t>It also takes the program input, </a:t>
            </a:r>
            <a:r>
              <a:rPr lang="en-US" altLang="zh-CN" dirty="0" err="1"/>
              <a:t>idx</a:t>
            </a:r>
            <a:r>
              <a:rPr lang="en-US" altLang="zh-CN" dirty="0"/>
              <a:t>, and a pointer item for storing the item we get.</a:t>
            </a:r>
          </a:p>
          <a:p>
            <a:endParaRPr lang="en-US" altLang="zh-CN" dirty="0"/>
          </a:p>
          <a:p>
            <a:r>
              <a:rPr lang="en-US" altLang="zh-CN" dirty="0"/>
              <a:t>Inside the </a:t>
            </a:r>
            <a:r>
              <a:rPr lang="en-US" altLang="zh-CN" dirty="0" err="1"/>
              <a:t>get_at</a:t>
            </a:r>
            <a:r>
              <a:rPr lang="en-US" altLang="zh-CN" dirty="0"/>
              <a:t> function, we compute a pointer p for accessing the data buffer and perform a </a:t>
            </a:r>
            <a:r>
              <a:rPr lang="en-US" altLang="zh-CN" dirty="0" err="1"/>
              <a:t>memcpy</a:t>
            </a:r>
            <a:r>
              <a:rPr lang="en-US" altLang="zh-CN" dirty="0"/>
              <a:t>.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In terms of program analysis, to ensure </a:t>
            </a:r>
            <a:r>
              <a:rPr lang="en-US" altLang="zh-CN" dirty="0" err="1"/>
              <a:t>memcpy</a:t>
            </a:r>
            <a:r>
              <a:rPr lang="en-US" altLang="zh-CN" dirty="0"/>
              <a:t> does not go out of bounds, </a:t>
            </a:r>
          </a:p>
          <a:p>
            <a:r>
              <a:rPr lang="en-US" altLang="zh-CN" dirty="0"/>
              <a:t>we need to guarantee both the memory contents of pointers p and </a:t>
            </a:r>
            <a:r>
              <a:rPr lang="en-US" altLang="zh-CN" dirty="0" err="1"/>
              <a:t>val</a:t>
            </a:r>
            <a:r>
              <a:rPr lang="en-US" altLang="zh-CN" dirty="0"/>
              <a:t> can be accessed for the size of an item, which is 4 bytes.</a:t>
            </a:r>
          </a:p>
          <a:p>
            <a:endParaRPr lang="en-US" altLang="zh-CN" dirty="0"/>
          </a:p>
          <a:p>
            <a:r>
              <a:rPr lang="en-US" altLang="zh-CN" dirty="0"/>
              <a:t>So to check buffer inbounds, we insert two assertions before </a:t>
            </a:r>
            <a:r>
              <a:rPr lang="en-US" altLang="zh-CN" dirty="0" err="1"/>
              <a:t>memcpy</a:t>
            </a:r>
            <a:r>
              <a:rPr lang="en-US" altLang="zh-CN" dirty="0"/>
              <a:t> calls.</a:t>
            </a:r>
            <a:br>
              <a:rPr lang="en-US" altLang="zh-CN" dirty="0"/>
            </a:br>
            <a:r>
              <a:rPr lang="en-US" altLang="zh-CN" dirty="0"/>
              <a:t>To prove on line 25 is simple, but to prove line 24 requires:</a:t>
            </a:r>
          </a:p>
          <a:p>
            <a:r>
              <a:rPr lang="en-US" altLang="zh-CN" dirty="0"/>
              <a:t>[Click]</a:t>
            </a:r>
          </a:p>
          <a:p>
            <a:endParaRPr lang="en-US" altLang="zh-CN" dirty="0"/>
          </a:p>
          <a:p>
            <a:r>
              <a:rPr lang="en-US" altLang="zh-CN" dirty="0"/>
              <a:t>The blue box contains what properties we inferred for the pointer p.</a:t>
            </a:r>
          </a:p>
          <a:p>
            <a:endParaRPr lang="en-US" altLang="zh-CN" dirty="0"/>
          </a:p>
          <a:p>
            <a:r>
              <a:rPr lang="en-US" altLang="zh-CN" dirty="0"/>
              <a:t>The properties for </a:t>
            </a:r>
            <a:r>
              <a:rPr lang="en-US" altLang="zh-CN" dirty="0" err="1"/>
              <a:t>p.offset</a:t>
            </a:r>
            <a:r>
              <a:rPr lang="en-US" altLang="zh-CN" dirty="0"/>
              <a:t> is computed based on new position computed following </a:t>
            </a:r>
            <a:r>
              <a:rPr lang="en-US" altLang="zh-CN" dirty="0" err="1"/>
              <a:t>idx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The properties for </a:t>
            </a:r>
            <a:r>
              <a:rPr lang="en-US" altLang="zh-CN" dirty="0" err="1"/>
              <a:t>p.size</a:t>
            </a:r>
            <a:r>
              <a:rPr lang="en-US" altLang="zh-CN" dirty="0"/>
              <a:t> is the allocated size of the data buffer.</a:t>
            </a:r>
          </a:p>
          <a:p>
            <a:endParaRPr lang="en-US" altLang="zh-CN" dirty="0"/>
          </a:p>
          <a:p>
            <a:r>
              <a:rPr lang="en-US" altLang="zh-CN" dirty="0"/>
              <a:t>For </a:t>
            </a:r>
            <a:r>
              <a:rPr lang="en-US" altLang="zh-CN" dirty="0" err="1"/>
              <a:t>idx</a:t>
            </a:r>
            <a:r>
              <a:rPr lang="en-US" altLang="zh-CN" dirty="0"/>
              <a:t> and </a:t>
            </a:r>
            <a:r>
              <a:rPr lang="en-US" altLang="zh-CN" dirty="0" err="1"/>
              <a:t>l.len</a:t>
            </a:r>
            <a:r>
              <a:rPr lang="en-US" altLang="zh-CN" dirty="0"/>
              <a:t>, their relations can be determined through line 8, line 10, and line 21.</a:t>
            </a:r>
          </a:p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1A47F-A8D6-7141-8995-7524C57AEF8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7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how we compute properties and preforms checks?</a:t>
            </a:r>
          </a:p>
          <a:p>
            <a:endParaRPr lang="en-US" dirty="0"/>
          </a:p>
          <a:p>
            <a:r>
              <a:rPr lang="en-US" dirty="0"/>
              <a:t>Our analysis takes an input program and run abstract interpreter using different kinds of abstract domains.</a:t>
            </a:r>
          </a:p>
          <a:p>
            <a:endParaRPr lang="en-US" dirty="0"/>
          </a:p>
          <a:p>
            <a:r>
              <a:rPr lang="en-US" dirty="0"/>
              <a:t>Including a domain for heap abstraction, a domain for Boolean variables, and some numerical domain for integers.</a:t>
            </a:r>
          </a:p>
          <a:p>
            <a:endParaRPr lang="en-US" dirty="0"/>
          </a:p>
          <a:p>
            <a:r>
              <a:rPr lang="en-US" dirty="0"/>
              <a:t>For our running example, the analysis computes properties in the blue box.</a:t>
            </a:r>
          </a:p>
          <a:p>
            <a:endParaRPr lang="en-US" dirty="0"/>
          </a:p>
          <a:p>
            <a:r>
              <a:rPr lang="en-US" dirty="0"/>
              <a:t>But the question is, which numerical domains can represent such properties?</a:t>
            </a:r>
          </a:p>
          <a:p>
            <a:endParaRPr lang="en-US" dirty="0"/>
          </a:p>
          <a:p>
            <a:r>
              <a:rPr lang="en-US" dirty="0"/>
              <a:t>and how domain knows this property holds based on the properties we show in the blue box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1A47F-A8D6-7141-8995-7524C57AEF8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1683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look at some previous work on numerical abstract domains</a:t>
            </a:r>
          </a:p>
          <a:p>
            <a:endParaRPr lang="en-US" dirty="0"/>
          </a:p>
          <a:p>
            <a:r>
              <a:rPr lang="en-US" dirty="0"/>
              <a:t>The properties, as a constraint set, have two types of inequalities</a:t>
            </a:r>
          </a:p>
          <a:p>
            <a:r>
              <a:rPr lang="en-US" dirty="0"/>
              <a:t>The unit two variable per inequality, which stands for inequality with two variables and each variable only has unit coefficient </a:t>
            </a:r>
          </a:p>
          <a:p>
            <a:endParaRPr lang="en-US" dirty="0"/>
          </a:p>
          <a:p>
            <a:r>
              <a:rPr lang="en-US" dirty="0"/>
              <a:t>I will explain how to represent –</a:t>
            </a:r>
            <a:r>
              <a:rPr lang="en-US" dirty="0" err="1"/>
              <a:t>idx</a:t>
            </a:r>
            <a:r>
              <a:rPr lang="en-US" dirty="0"/>
              <a:t> &lt;=0 later.</a:t>
            </a:r>
          </a:p>
          <a:p>
            <a:endParaRPr lang="en-US" dirty="0"/>
          </a:p>
          <a:p>
            <a:r>
              <a:rPr lang="en-US" dirty="0"/>
              <a:t>Another part is called TVPI, where it is still for two variables but allows coefficient to be arbitrary.</a:t>
            </a:r>
          </a:p>
          <a:p>
            <a:endParaRPr lang="en-US" dirty="0"/>
          </a:p>
          <a:p>
            <a:r>
              <a:rPr lang="en-US" dirty="0"/>
              <a:t>Here we have </a:t>
            </a:r>
            <a:r>
              <a:rPr lang="en-US" dirty="0" err="1"/>
              <a:t>idx</a:t>
            </a:r>
            <a:r>
              <a:rPr lang="en-US" dirty="0"/>
              <a:t> and </a:t>
            </a:r>
            <a:r>
              <a:rPr lang="en-US" dirty="0" err="1"/>
              <a:t>l.len</a:t>
            </a:r>
            <a:r>
              <a:rPr lang="en-US" dirty="0"/>
              <a:t> both takes coefficient 4 in the representation.</a:t>
            </a:r>
          </a:p>
          <a:p>
            <a:endParaRPr lang="en-US" dirty="0"/>
          </a:p>
          <a:p>
            <a:r>
              <a:rPr lang="en-US" dirty="0"/>
              <a:t>So how existing abstract domains can represent these properties.</a:t>
            </a:r>
          </a:p>
          <a:p>
            <a:r>
              <a:rPr lang="en-US" dirty="0"/>
              <a:t>For Intervals, the domain is impossible because it is for non-relational properties.</a:t>
            </a:r>
          </a:p>
          <a:p>
            <a:r>
              <a:rPr lang="en-US" dirty="0"/>
              <a:t>The domains for UTVPI, they can not represent either due to we have TVPI constraint.</a:t>
            </a:r>
          </a:p>
          <a:p>
            <a:endParaRPr lang="en-US" dirty="0"/>
          </a:p>
          <a:p>
            <a:r>
              <a:rPr lang="en-US" dirty="0"/>
              <a:t>For TVPI, and convex polyhedral domain, we can represent them but the challenges are the cost of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1A47F-A8D6-7141-8995-7524C57AEF8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6276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want is an abstract domain </a:t>
            </a:r>
          </a:p>
          <a:p>
            <a:r>
              <a:rPr lang="en-US" dirty="0"/>
              <a:t>which can represent some TVPI constraints but not all of them.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 the expressiveness is between TVPI and Zones.</a:t>
            </a:r>
          </a:p>
          <a:p>
            <a:r>
              <a:rPr lang="en-US" dirty="0"/>
              <a:t>Besides, we want a domain that make analysis scalable.</a:t>
            </a:r>
          </a:p>
          <a:p>
            <a:r>
              <a:rPr lang="en-US" dirty="0"/>
              <a:t>So we wish the cost is between TVPI and Zones.</a:t>
            </a:r>
          </a:p>
          <a:p>
            <a:endParaRPr lang="en-US" dirty="0"/>
          </a:p>
          <a:p>
            <a:r>
              <a:rPr lang="en-US" dirty="0"/>
              <a:t>Our idea is straightforward, which we use UTVPI constraint to represent TVPI one.</a:t>
            </a:r>
          </a:p>
          <a:p>
            <a:endParaRPr lang="en-US" dirty="0"/>
          </a:p>
          <a:p>
            <a:r>
              <a:rPr lang="en-US" dirty="0"/>
              <a:t>Specially, we want to use Zones domain for TVPI. </a:t>
            </a:r>
          </a:p>
          <a:p>
            <a:r>
              <a:rPr lang="en-US" dirty="0"/>
              <a:t>For instance, one of TVPI constraint in our example is</a:t>
            </a:r>
          </a:p>
          <a:p>
            <a:endParaRPr lang="en-US" dirty="0"/>
          </a:p>
          <a:p>
            <a:r>
              <a:rPr lang="en-US" dirty="0"/>
              <a:t>Zones cannot represent it because there are TVPI constraints, </a:t>
            </a:r>
          </a:p>
          <a:p>
            <a:r>
              <a:rPr lang="en-US" dirty="0"/>
              <a:t>but if we treat a variable with non-unit coefficient </a:t>
            </a:r>
          </a:p>
          <a:p>
            <a:r>
              <a:rPr lang="en-US" dirty="0"/>
              <a:t>like 4 * </a:t>
            </a:r>
            <a:r>
              <a:rPr lang="en-US" dirty="0" err="1"/>
              <a:t>idx</a:t>
            </a:r>
            <a:r>
              <a:rPr lang="en-US" dirty="0"/>
              <a:t> as a ghost variable 4idx</a:t>
            </a:r>
          </a:p>
          <a:p>
            <a:endParaRPr lang="en-US" dirty="0"/>
          </a:p>
          <a:p>
            <a:r>
              <a:rPr lang="en-US" dirty="0"/>
              <a:t>Then all TVPI constraints we showed before become UTVPI constraints.</a:t>
            </a:r>
          </a:p>
          <a:p>
            <a:endParaRPr lang="en-US" dirty="0"/>
          </a:p>
          <a:p>
            <a:r>
              <a:rPr lang="en-US" dirty="0"/>
              <a:t>However, we don’t want our domain for representing any TVPI constraints. </a:t>
            </a:r>
          </a:p>
          <a:p>
            <a:r>
              <a:rPr lang="en-US" dirty="0"/>
              <a:t>So we only allows TVPI constraints with specific coefficients.</a:t>
            </a:r>
          </a:p>
          <a:p>
            <a:endParaRPr lang="en-US" dirty="0"/>
          </a:p>
          <a:p>
            <a:r>
              <a:rPr lang="en-US" dirty="0"/>
              <a:t>In our example, coefficients either be 1 and 4 is enough.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1A47F-A8D6-7141-8995-7524C57AEF8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2512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understand how our new domain works, let first understand how the zones domain works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1A47F-A8D6-7141-8995-7524C57AEF8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0162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Zones use a data structure called difference bound matrix (DBM)</a:t>
            </a:r>
          </a:p>
          <a:p>
            <a:r>
              <a:rPr lang="en-US" dirty="0"/>
              <a:t>where rows and columns correspond to variables, </a:t>
            </a:r>
          </a:p>
          <a:p>
            <a:r>
              <a:rPr lang="en-US" dirty="0"/>
              <a:t>and each element represents an UTVPI constraint.</a:t>
            </a:r>
          </a:p>
          <a:p>
            <a:endParaRPr lang="en-US" dirty="0"/>
          </a:p>
          <a:p>
            <a:r>
              <a:rPr lang="en-US" dirty="0"/>
              <a:t>We define a set of program variables with an extra variable v0</a:t>
            </a:r>
          </a:p>
          <a:p>
            <a:r>
              <a:rPr lang="en-US" dirty="0"/>
              <a:t>which always has the constant value 0. In this way, -</a:t>
            </a:r>
            <a:r>
              <a:rPr lang="en-US" dirty="0" err="1"/>
              <a:t>idx</a:t>
            </a:r>
            <a:r>
              <a:rPr lang="en-US" dirty="0"/>
              <a:t> &lt;= 0 is viewed as v0 – </a:t>
            </a:r>
            <a:r>
              <a:rPr lang="en-US" dirty="0" err="1"/>
              <a:t>idx</a:t>
            </a:r>
            <a:r>
              <a:rPr lang="en-US" dirty="0"/>
              <a:t> &lt;=0.</a:t>
            </a:r>
          </a:p>
          <a:p>
            <a:endParaRPr lang="en-US" dirty="0"/>
          </a:p>
          <a:p>
            <a:r>
              <a:rPr lang="en-US" dirty="0"/>
              <a:t>For the difference bound of each constraint, </a:t>
            </a:r>
          </a:p>
          <a:p>
            <a:r>
              <a:rPr lang="en-US" dirty="0"/>
              <a:t>we define some constant c which could be an integer or plus infinity.</a:t>
            </a:r>
          </a:p>
          <a:p>
            <a:endParaRPr lang="en-US" dirty="0"/>
          </a:p>
          <a:p>
            <a:r>
              <a:rPr lang="en-US" dirty="0"/>
              <a:t>Now, we have the matrix to represent constraints.</a:t>
            </a:r>
          </a:p>
          <a:p>
            <a:r>
              <a:rPr lang="en-US" dirty="0"/>
              <a:t>[Click]</a:t>
            </a:r>
          </a:p>
          <a:p>
            <a:r>
              <a:rPr lang="en-US" dirty="0"/>
              <a:t>But you can also see 1&lt;= </a:t>
            </a:r>
            <a:r>
              <a:rPr lang="en-US" dirty="0" err="1"/>
              <a:t>l.len</a:t>
            </a:r>
            <a:r>
              <a:rPr lang="en-US" dirty="0"/>
              <a:t> </a:t>
            </a:r>
            <a:r>
              <a:rPr lang="en-US" dirty="0" err="1"/>
              <a:t>obviousely</a:t>
            </a:r>
            <a:r>
              <a:rPr lang="en-US" dirty="0"/>
              <a:t>, but it does not represent the in DBM, so how to get it?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1A47F-A8D6-7141-8995-7524C57AEF8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4453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infer constraints that are implicit, the DBM provides an operation called saturation.</a:t>
            </a:r>
          </a:p>
          <a:p>
            <a:endParaRPr lang="en-US" dirty="0"/>
          </a:p>
          <a:p>
            <a:r>
              <a:rPr lang="en-US" dirty="0"/>
              <a:t>Where it is based on [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fr·ee·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ay</a:t>
            </a:r>
            <a:r>
              <a:rPr lang="en-US" dirty="0"/>
              <a:t>]-</a:t>
            </a:r>
            <a:r>
              <a:rPr lang="en-US" dirty="0" err="1"/>
              <a:t>Motzkin</a:t>
            </a:r>
            <a:r>
              <a:rPr lang="en-US" dirty="0"/>
              <a:t> elimination.</a:t>
            </a:r>
          </a:p>
          <a:p>
            <a:r>
              <a:rPr lang="en-US" dirty="0"/>
              <a:t>Such as two UTVPI constraints share the same variable y but can be eliminated to compute a new UTVPI constraint.</a:t>
            </a:r>
          </a:p>
          <a:p>
            <a:endParaRPr lang="en-US" dirty="0"/>
          </a:p>
          <a:p>
            <a:r>
              <a:rPr lang="en-US" dirty="0"/>
              <a:t>The saturation here computes all implicit constraints that the current DBM implies and makes them representable.</a:t>
            </a:r>
          </a:p>
          <a:p>
            <a:r>
              <a:rPr lang="en-US" dirty="0"/>
              <a:t>The implementation can be based on a shortest path algorithm, if you view the DBM as 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directed graph</a:t>
            </a:r>
            <a:endParaRPr lang="en-US" dirty="0"/>
          </a:p>
          <a:p>
            <a:endParaRPr lang="en-US" dirty="0"/>
          </a:p>
          <a:p>
            <a:r>
              <a:rPr lang="en-US" dirty="0"/>
              <a:t>Now back to our example, if we only look at those properties in UTVPI form,</a:t>
            </a:r>
          </a:p>
          <a:p>
            <a:r>
              <a:rPr lang="en-US" dirty="0"/>
              <a:t>So we take existing two constraints to derive the implicit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1A47F-A8D6-7141-8995-7524C57AEF8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5470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Next, we show how we extend the DBM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1A47F-A8D6-7141-8995-7524C57AEF8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050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call our new DBM as a template DBM (</a:t>
            </a:r>
            <a:r>
              <a:rPr lang="en-US" dirty="0" err="1"/>
              <a:t>tDBM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The DBM handles TVPI constraints as what we described earlier</a:t>
            </a:r>
          </a:p>
          <a:p>
            <a:r>
              <a:rPr lang="en-US" dirty="0"/>
              <a:t>Where a variable with non-coefficient in a TVPI constraint is a ghost variable.</a:t>
            </a:r>
          </a:p>
          <a:p>
            <a:endParaRPr lang="en-US" dirty="0"/>
          </a:p>
          <a:p>
            <a:r>
              <a:rPr lang="en-US" dirty="0"/>
              <a:t>For </a:t>
            </a:r>
            <a:r>
              <a:rPr lang="en-US" dirty="0" err="1"/>
              <a:t>tDBM</a:t>
            </a:r>
            <a:r>
              <a:rPr lang="en-US" dirty="0"/>
              <a:t>, we still keep the same form as DBM but allow coefficients to be chosen from the template.</a:t>
            </a:r>
          </a:p>
          <a:p>
            <a:r>
              <a:rPr lang="en-US" dirty="0"/>
              <a:t>That means a special dimension in the DBM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1A47F-A8D6-7141-8995-7524C57AEF8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1697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see how </a:t>
            </a:r>
            <a:r>
              <a:rPr lang="en-US" dirty="0" err="1"/>
              <a:t>tDBM</a:t>
            </a:r>
            <a:r>
              <a:rPr lang="en-US" dirty="0"/>
              <a:t> represents properties in our example.</a:t>
            </a:r>
          </a:p>
          <a:p>
            <a:endParaRPr lang="en-US" dirty="0"/>
          </a:p>
          <a:p>
            <a:r>
              <a:rPr lang="en-US"/>
              <a:t>First, we </a:t>
            </a:r>
            <a:r>
              <a:rPr lang="en-US" dirty="0"/>
              <a:t>allow the coefficient template to include 1 and 4.</a:t>
            </a:r>
          </a:p>
          <a:p>
            <a:endParaRPr lang="en-US" dirty="0"/>
          </a:p>
          <a:p>
            <a:r>
              <a:rPr lang="en-US" dirty="0"/>
              <a:t>Here we just classify these two types of inequalities in the DBM.</a:t>
            </a:r>
          </a:p>
          <a:p>
            <a:endParaRPr lang="en-US" dirty="0"/>
          </a:p>
          <a:p>
            <a:r>
              <a:rPr lang="en-US" dirty="0"/>
              <a:t>In practice, we only use one DBM to represent all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1A47F-A8D6-7141-8995-7524C57AEF8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846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CA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So for </a:t>
                </a:r>
                <a:r>
                  <a:rPr lang="en-CA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tDBM</a:t>
                </a:r>
                <a:r>
                  <a:rPr lang="en-CA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how do we infer all implicit constraints?</a:t>
                </a:r>
                <a:br>
                  <a:rPr lang="en-CA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endParaRPr lang="en-CA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CA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Using DBM saturation here is not enough. </a:t>
                </a:r>
              </a:p>
              <a:p>
                <a:r>
                  <a:rPr lang="en-CA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As an example here,, to eliminate variable y, we need to align coefficients of y before elimination.</a:t>
                </a:r>
              </a:p>
              <a:p>
                <a:endParaRPr lang="en-CA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CA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We achieve this on the resultant rule by taking two TVPI constraints.</a:t>
                </a:r>
              </a:p>
              <a:p>
                <a:r>
                  <a:rPr lang="en-CA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We find the common coefficient for y, eliminate it, and compute the new TVPI constraint.</a:t>
                </a:r>
              </a:p>
              <a:p>
                <a:pPr lvl="0" algn="l"/>
                <a:endParaRPr lang="en-US" dirty="0"/>
              </a:p>
              <a:p>
                <a:r>
                  <a:rPr lang="en-US" dirty="0"/>
                  <a:t>Given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∧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𝑑𝑦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𝑒𝑧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Finds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r>
                  <a:rPr lang="en-US" dirty="0"/>
                  <a:t>Computes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endParaRPr lang="en-US" dirty="0"/>
              </a:p>
              <a:p>
                <a:r>
                  <a:rPr lang="en-US" dirty="0"/>
                  <a:t>Derives a new constraint: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endParaRPr lang="en-US" dirty="0"/>
              </a:p>
              <a:p>
                <a:pPr lvl="0" algn="l"/>
                <a:endParaRPr lang="en-US" dirty="0"/>
              </a:p>
              <a:p>
                <a:pPr lvl="0" algn="l"/>
                <a:r>
                  <a:rPr lang="en-US" dirty="0"/>
                  <a:t>Explain </a:t>
                </a:r>
                <a:r>
                  <a:rPr lang="en-US"/>
                  <a:t>rule in high </a:t>
                </a:r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CA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So for </a:t>
                </a:r>
                <a:r>
                  <a:rPr lang="en-CA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tDBM</a:t>
                </a:r>
                <a:r>
                  <a:rPr lang="en-CA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how do we infer all implicit constraints?</a:t>
                </a:r>
                <a:br>
                  <a:rPr lang="en-CA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endParaRPr lang="en-CA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CA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Using DBM saturation here is not enough. </a:t>
                </a:r>
              </a:p>
              <a:p>
                <a:r>
                  <a:rPr lang="en-CA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As an example here,, to eliminate variable y, we need to align coefficients of y before elimination.</a:t>
                </a:r>
              </a:p>
              <a:p>
                <a:endParaRPr lang="en-CA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CA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We achieve this on the resultant rule by taking two TVPI constraints.</a:t>
                </a:r>
              </a:p>
              <a:p>
                <a:r>
                  <a:rPr lang="en-CA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We find the common coefficient for y, eliminate it, and compute the new TVPI constraint.</a:t>
                </a:r>
              </a:p>
              <a:p>
                <a:pPr lvl="0" algn="l"/>
                <a:endParaRPr lang="en-US" dirty="0"/>
              </a:p>
              <a:p>
                <a:r>
                  <a:rPr lang="en-US" dirty="0"/>
                  <a:t>Given </a:t>
                </a:r>
                <a:r>
                  <a:rPr lang="en-US" i="0">
                    <a:latin typeface="Cambria Math" panose="02040503050406030204" pitchFamily="18" charset="0"/>
                  </a:rPr>
                  <a:t>𝑎𝑥−𝑏𝑦≤𝑐 ∧</a:t>
                </a:r>
                <a:r>
                  <a:rPr lang="en-US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𝑑𝑦−𝑒𝑧≤𝑓</a:t>
                </a:r>
                <a:endParaRPr lang="en-US" dirty="0"/>
              </a:p>
              <a:p>
                <a:r>
                  <a:rPr lang="en-US" dirty="0"/>
                  <a:t>Finds </a:t>
                </a:r>
                <a:r>
                  <a:rPr lang="en-US" i="0">
                    <a:latin typeface="Cambria Math" panose="02040503050406030204" pitchFamily="18" charset="0"/>
                  </a:rPr>
                  <a:t>𝑔=gcd⁡(𝑏,𝑑)</a:t>
                </a:r>
                <a:endParaRPr lang="en-US" dirty="0"/>
              </a:p>
              <a:p>
                <a:r>
                  <a:rPr lang="en-US" dirty="0"/>
                  <a:t>Computes </a:t>
                </a:r>
                <a:r>
                  <a:rPr lang="en-US" i="0">
                    <a:latin typeface="Cambria Math" panose="02040503050406030204" pitchFamily="18" charset="0"/>
                  </a:rPr>
                  <a:t>𝜆_1=𝑑/𝑔</a:t>
                </a:r>
                <a:r>
                  <a:rPr lang="en-US" dirty="0"/>
                  <a:t>, </a:t>
                </a:r>
                <a:r>
                  <a:rPr lang="en-US" i="0">
                    <a:latin typeface="Cambria Math" panose="02040503050406030204" pitchFamily="18" charset="0"/>
                  </a:rPr>
                  <a:t>𝜆_2=𝑏/𝑔</a:t>
                </a:r>
                <a:endParaRPr lang="en-US" dirty="0"/>
              </a:p>
              <a:p>
                <a:r>
                  <a:rPr lang="en-US" dirty="0"/>
                  <a:t>Derives a new constraint: </a:t>
                </a:r>
                <a:r>
                  <a:rPr lang="en-US" i="0">
                    <a:latin typeface="Cambria Math" panose="02040503050406030204" pitchFamily="18" charset="0"/>
                  </a:rPr>
                  <a:t>(𝜆_1 𝑎)</a:t>
                </a:r>
                <a:r>
                  <a:rPr lang="en-US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∙</a:t>
                </a:r>
                <a:r>
                  <a:rPr lang="en-US" i="0">
                    <a:latin typeface="Cambria Math" panose="02040503050406030204" pitchFamily="18" charset="0"/>
                  </a:rPr>
                  <a:t>𝑥−(𝜆_2 𝑒)</a:t>
                </a:r>
                <a:r>
                  <a:rPr lang="en-US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∙𝑧≤𝜆_1 𝑐+𝜆_2 𝑓</a:t>
                </a:r>
                <a:endParaRPr lang="en-US" dirty="0"/>
              </a:p>
              <a:p>
                <a:pPr lvl="0" algn="l"/>
                <a:endParaRPr lang="en-US" dirty="0"/>
              </a:p>
              <a:p>
                <a:pPr lvl="0" algn="l"/>
                <a:r>
                  <a:rPr lang="en-US" dirty="0"/>
                  <a:t>Explain </a:t>
                </a:r>
                <a:r>
                  <a:rPr lang="en-US"/>
                  <a:t>rule in high 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1A47F-A8D6-7141-8995-7524C57AEF8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8601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When we apply a resultant step on constraints, </a:t>
                </a:r>
              </a:p>
              <a:p>
                <a:r>
                  <a:rPr lang="en-US" dirty="0"/>
                  <a:t>we may </a:t>
                </a:r>
                <a:r>
                  <a:rPr lang="en-US" b="1" dirty="0"/>
                  <a:t>lose implicit constraints</a:t>
                </a:r>
                <a:r>
                  <a:rPr lang="en-US" dirty="0"/>
                  <a:t> that are not expressible in the template. </a:t>
                </a:r>
              </a:p>
              <a:p>
                <a:r>
                  <a:rPr lang="en-US" dirty="0"/>
                  <a:t>E.g. </a:t>
                </a:r>
              </a:p>
              <a:p>
                <a:r>
                  <a:rPr lang="en-US" dirty="0"/>
                  <a:t>Should we extend the template? Not necessarily.</a:t>
                </a:r>
              </a:p>
              <a:p>
                <a:endParaRPr lang="en-US" dirty="0"/>
              </a:p>
              <a:p>
                <a:r>
                  <a:rPr lang="en-US" dirty="0"/>
                  <a:t>Like the example here, the inequality is equivalent to the one that </a:t>
                </a:r>
                <a:r>
                  <a:rPr lang="en-US" dirty="0" err="1"/>
                  <a:t>tDBM</a:t>
                </a:r>
                <a:r>
                  <a:rPr lang="en-US" dirty="0"/>
                  <a:t> can represents.</a:t>
                </a:r>
              </a:p>
              <a:p>
                <a:endParaRPr lang="en-US" dirty="0"/>
              </a:p>
              <a:p>
                <a:r>
                  <a:rPr lang="en-US" dirty="0"/>
                  <a:t>So here, we define a scaling rule to scale coefficients and make it expressible.</a:t>
                </a:r>
              </a:p>
              <a:p>
                <a:endParaRPr lang="en-US" dirty="0"/>
              </a:p>
              <a:p>
                <a:r>
                  <a:rPr lang="en-US" dirty="0"/>
                  <a:t>Given a template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and a constraint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Try to find a divisor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 that: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CA" dirty="0"/>
              </a:p>
              <a:p>
                <a:r>
                  <a:rPr lang="en-US" dirty="0"/>
                  <a:t>Compute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expressible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constraint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≤</m:t>
                    </m:r>
                    <m:d>
                      <m:dPr>
                        <m:begChr m:val="⌈"/>
                        <m:endChr m:val="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⌉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What is missed during the resultant?</a:t>
                </a:r>
              </a:p>
              <a:p>
                <a:r>
                  <a:rPr lang="en-US" dirty="0"/>
                  <a:t>The question her is, can the implicit constraint to be representable after applying resultant?</a:t>
                </a:r>
              </a:p>
              <a:p>
                <a:r>
                  <a:rPr lang="en-US" dirty="0"/>
                  <a:t>Remember that we have the coefficient template, but the result constraint can not be fitted in.</a:t>
                </a:r>
              </a:p>
              <a:p>
                <a:endParaRPr lang="en-US" dirty="0"/>
              </a:p>
              <a:p>
                <a:r>
                  <a:rPr lang="en-US" dirty="0"/>
                  <a:t>Should we extend the template? Not necessarily.</a:t>
                </a:r>
              </a:p>
              <a:p>
                <a:endParaRPr lang="en-US" dirty="0"/>
              </a:p>
              <a:p>
                <a:r>
                  <a:rPr lang="en-US" dirty="0"/>
                  <a:t>Like the example here, the inequality is equivalent to the one that </a:t>
                </a:r>
                <a:r>
                  <a:rPr lang="en-US" dirty="0" err="1"/>
                  <a:t>tDBM</a:t>
                </a:r>
                <a:r>
                  <a:rPr lang="en-US" dirty="0"/>
                  <a:t> can represents.</a:t>
                </a:r>
              </a:p>
              <a:p>
                <a:endParaRPr lang="en-US" dirty="0"/>
              </a:p>
              <a:p>
                <a:r>
                  <a:rPr lang="en-US" dirty="0"/>
                  <a:t>So here, we define a scaling rule to scale coefficients and make it expressible.</a:t>
                </a:r>
              </a:p>
              <a:p>
                <a:endParaRPr lang="en-US" dirty="0"/>
              </a:p>
              <a:p>
                <a:r>
                  <a:rPr lang="en-US" dirty="0"/>
                  <a:t>Given a template </a:t>
                </a:r>
                <a:r>
                  <a:rPr lang="en-US" i="0">
                    <a:latin typeface="Cambria Math" panose="02040503050406030204" pitchFamily="18" charset="0"/>
                  </a:rPr>
                  <a:t>𝑇</a:t>
                </a:r>
                <a:r>
                  <a:rPr lang="en-US" dirty="0"/>
                  <a:t> and a constraint </a:t>
                </a:r>
                <a:r>
                  <a:rPr lang="en-US" i="0">
                    <a:latin typeface="Cambria Math" panose="02040503050406030204" pitchFamily="18" charset="0"/>
                  </a:rPr>
                  <a:t>𝑎𝑥−𝑏𝑦≤𝑐</a:t>
                </a:r>
                <a:endParaRPr lang="en-US" dirty="0"/>
              </a:p>
              <a:p>
                <a:r>
                  <a:rPr lang="en-US" dirty="0"/>
                  <a:t>Try to find a divisor </a:t>
                </a:r>
                <a:r>
                  <a:rPr lang="en-US" i="0">
                    <a:latin typeface="Cambria Math" panose="02040503050406030204" pitchFamily="18" charset="0"/>
                  </a:rPr>
                  <a:t>𝑑</a:t>
                </a:r>
                <a:r>
                  <a:rPr lang="en-US" dirty="0"/>
                  <a:t> that: </a:t>
                </a:r>
                <a:r>
                  <a:rPr lang="en-US" i="0">
                    <a:latin typeface="Cambria Math" panose="02040503050406030204" pitchFamily="18" charset="0"/>
                  </a:rPr>
                  <a:t>𝑎^′=𝑎/𝑑∈𝑇</a:t>
                </a:r>
                <a:r>
                  <a:rPr lang="en-US" dirty="0"/>
                  <a:t> and </a:t>
                </a:r>
                <a:r>
                  <a:rPr lang="en-US" i="0">
                    <a:latin typeface="Cambria Math" panose="02040503050406030204" pitchFamily="18" charset="0"/>
                  </a:rPr>
                  <a:t>𝑏^′=𝑏/𝑑∈𝑇</a:t>
                </a:r>
                <a:endParaRPr lang="en-CA" dirty="0"/>
              </a:p>
              <a:p>
                <a:r>
                  <a:rPr lang="en-US" dirty="0"/>
                  <a:t>Compute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expressible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constraint</a:t>
                </a:r>
                <a:r>
                  <a:rPr lang="zh-CN" altLang="en-US" dirty="0"/>
                  <a:t> </a:t>
                </a:r>
                <a:r>
                  <a:rPr lang="en-US" altLang="zh-CN" i="0">
                    <a:latin typeface="Cambria Math" panose="02040503050406030204" pitchFamily="18" charset="0"/>
                  </a:rPr>
                  <a:t>𝑎^′ 𝑥−𝑏^′ 𝑦≤⌈├ 𝑐/𝑑⌉┤</a:t>
                </a:r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1A47F-A8D6-7141-8995-7524C57AEF8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8393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Overall, for </a:t>
            </a:r>
            <a:r>
              <a:rPr lang="en-CA" dirty="0" err="1"/>
              <a:t>tDBM</a:t>
            </a:r>
            <a:r>
              <a:rPr lang="en-CA" dirty="0"/>
              <a:t> saturation,</a:t>
            </a:r>
          </a:p>
          <a:p>
            <a:r>
              <a:rPr lang="en-CA" dirty="0"/>
              <a:t>We run it into two steps:</a:t>
            </a:r>
          </a:p>
          <a:p>
            <a:endParaRPr lang="en-CA" dirty="0"/>
          </a:p>
          <a:p>
            <a:r>
              <a:rPr lang="en-CA" dirty="0"/>
              <a:t>Pick any two constraints that can eliminate the intermediate variable</a:t>
            </a:r>
          </a:p>
          <a:p>
            <a:r>
              <a:rPr lang="en-CA" dirty="0"/>
              <a:t>Produce new constraints and update DBM</a:t>
            </a:r>
          </a:p>
          <a:p>
            <a:endParaRPr lang="en-US" dirty="0"/>
          </a:p>
          <a:p>
            <a:r>
              <a:rPr lang="en-CA" dirty="0"/>
              <a:t>the </a:t>
            </a:r>
            <a:r>
              <a:rPr lang="en-CA" b="1" dirty="0"/>
              <a:t>ceiling of log n minus one.</a:t>
            </a:r>
          </a:p>
          <a:p>
            <a:endParaRPr lang="en-CA" b="1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 are interested in how this upper bound is derived, please refer to this paper.</a:t>
            </a:r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Since we keep constraints </a:t>
            </a: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the form that the given template allows, we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1A47F-A8D6-7141-8995-7524C57AEF8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0918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saturation algorithm here is more general, but a </a:t>
            </a:r>
            <a:r>
              <a:rPr lang="en-US" dirty="0" err="1"/>
              <a:t>tDBM</a:t>
            </a:r>
            <a:r>
              <a:rPr lang="en-US" dirty="0"/>
              <a:t> is a DBM.</a:t>
            </a:r>
          </a:p>
          <a:p>
            <a:r>
              <a:rPr lang="en-US" dirty="0"/>
              <a:t>The DBM itself already has a saturation algorithm and we want to reuse it. </a:t>
            </a:r>
          </a:p>
          <a:p>
            <a:endParaRPr lang="en-US" dirty="0"/>
          </a:p>
          <a:p>
            <a:r>
              <a:rPr lang="en-US" dirty="0"/>
              <a:t>The way we did is decomposing the resultant rule into two parts:</a:t>
            </a:r>
          </a:p>
          <a:p>
            <a:pPr marL="228600" indent="-228600">
              <a:buAutoNum type="arabicParenBoth"/>
            </a:pPr>
            <a:r>
              <a:rPr lang="en-US" dirty="0"/>
              <a:t>b is not equal to d</a:t>
            </a:r>
          </a:p>
          <a:p>
            <a:pPr marL="228600" indent="-228600">
              <a:buAutoNum type="arabicParenBoth"/>
            </a:pPr>
            <a:r>
              <a:rPr lang="en-US" dirty="0"/>
              <a:t>b is equal to d.</a:t>
            </a:r>
          </a:p>
          <a:p>
            <a:endParaRPr lang="en-US" dirty="0"/>
          </a:p>
          <a:p>
            <a:r>
              <a:rPr lang="en-US" dirty="0"/>
              <a:t>The DBM saturation works when b and d are equal.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1A47F-A8D6-7141-8995-7524C57AEF8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4084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Now, following this two rules, </a:t>
            </a:r>
          </a:p>
          <a:p>
            <a:r>
              <a:rPr lang="en-US" dirty="0"/>
              <a:t>let’s look at how to get constraints using saturation to prove the property for memory safety.</a:t>
            </a:r>
          </a:p>
          <a:p>
            <a:endParaRPr lang="en-US" dirty="0"/>
          </a:p>
          <a:p>
            <a:r>
              <a:rPr lang="en-US" dirty="0"/>
              <a:t>First </a:t>
            </a:r>
          </a:p>
          <a:p>
            <a:r>
              <a:rPr lang="en-US" dirty="0"/>
              <a:t>[Click]</a:t>
            </a:r>
          </a:p>
          <a:p>
            <a:r>
              <a:rPr lang="en-US" dirty="0"/>
              <a:t>we pick these two to eliminate …</a:t>
            </a:r>
          </a:p>
          <a:p>
            <a:r>
              <a:rPr lang="en-US" dirty="0"/>
              <a:t>Where it requires to align coefficients.</a:t>
            </a:r>
          </a:p>
          <a:p>
            <a:endParaRPr lang="en-US" dirty="0"/>
          </a:p>
          <a:p>
            <a:r>
              <a:rPr lang="en-US" dirty="0"/>
              <a:t>Next, </a:t>
            </a:r>
          </a:p>
          <a:p>
            <a:r>
              <a:rPr lang="en-US" dirty="0"/>
              <a:t>[Click]</a:t>
            </a:r>
          </a:p>
          <a:p>
            <a:r>
              <a:rPr lang="en-US" dirty="0"/>
              <a:t>we pick another TVPI constraint with this derived one to eliminate.</a:t>
            </a:r>
          </a:p>
          <a:p>
            <a:endParaRPr lang="en-US" dirty="0"/>
          </a:p>
          <a:p>
            <a:r>
              <a:rPr lang="en-US" dirty="0"/>
              <a:t>In this case, we don’t need to align coefficient.</a:t>
            </a:r>
          </a:p>
          <a:p>
            <a:endParaRPr lang="en-US" dirty="0"/>
          </a:p>
          <a:p>
            <a:r>
              <a:rPr lang="en-US" dirty="0"/>
              <a:t>So the first step we use resultant and scaling, then we direct use DBM saturation to get the constraint to prove assertion.</a:t>
            </a:r>
          </a:p>
          <a:p>
            <a:endParaRPr lang="en-US" dirty="0"/>
          </a:p>
          <a:p>
            <a:r>
              <a:rPr lang="en-US" dirty="0"/>
              <a:t>Thus, an alternative way is we compute implicit constraints which requires aligning coefficients first</a:t>
            </a:r>
          </a:p>
          <a:p>
            <a:r>
              <a:rPr lang="en-US" dirty="0"/>
              <a:t>And then computes the rest using DBM saturation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1A47F-A8D6-7141-8995-7524C57AEF8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6462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Thus, here we propose an alternative saturation algorithm to leverage the DBM.</a:t>
            </a:r>
          </a:p>
          <a:p>
            <a:endParaRPr lang="en-US" dirty="0"/>
          </a:p>
          <a:p>
            <a:r>
              <a:rPr lang="en-US" dirty="0"/>
              <a:t>We apply the step 1 for the cases that require aligning coefficients</a:t>
            </a:r>
          </a:p>
          <a:p>
            <a:r>
              <a:rPr lang="en-US" dirty="0"/>
              <a:t>And then the step 2 without alignment.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1A47F-A8D6-7141-8995-7524C57AEF8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632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Now, let’s look at the new domain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1A47F-A8D6-7141-8995-7524C57AEF8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5857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new domain is based on </a:t>
            </a:r>
            <a:r>
              <a:rPr lang="en-US" dirty="0" err="1"/>
              <a:t>tDBM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 concretization function is defined for given a </a:t>
            </a:r>
            <a:r>
              <a:rPr lang="en-US" dirty="0" err="1"/>
              <a:t>tDBM</a:t>
            </a:r>
            <a:r>
              <a:rPr lang="en-US" dirty="0"/>
              <a:t>,</a:t>
            </a:r>
          </a:p>
          <a:p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result</a:t>
            </a:r>
            <a:r>
              <a:rPr lang="zh-CN" altLang="en-US" dirty="0"/>
              <a:t> </a:t>
            </a:r>
            <a:r>
              <a:rPr lang="en-US" dirty="0"/>
              <a:t>set includes all concrete variable assignments that satisfy </a:t>
            </a:r>
            <a:r>
              <a:rPr lang="en-US" b="1" dirty="0"/>
              <a:t>all</a:t>
            </a:r>
            <a:r>
              <a:rPr lang="en-US" dirty="0"/>
              <a:t> the constraints encoded in the matrix.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1A47F-A8D6-7141-8995-7524C57AEF8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7260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include several domain operations here that mainly used in the analysis.</a:t>
            </a:r>
          </a:p>
          <a:p>
            <a:endParaRPr lang="en-US" dirty="0"/>
          </a:p>
          <a:p>
            <a:r>
              <a:rPr lang="en-US" dirty="0"/>
              <a:t>You can </a:t>
            </a:r>
            <a:r>
              <a:rPr lang="en-US" altLang="zh-CN" dirty="0"/>
              <a:t>find</a:t>
            </a:r>
            <a:r>
              <a:rPr lang="zh-CN" altLang="en-US" dirty="0"/>
              <a:t> </a:t>
            </a:r>
            <a:r>
              <a:rPr lang="en-US" altLang="zh-CN" dirty="0"/>
              <a:t>all</a:t>
            </a:r>
            <a:r>
              <a:rPr lang="en-US" dirty="0"/>
              <a:t> details of explanation in our paper.</a:t>
            </a:r>
          </a:p>
          <a:p>
            <a:endParaRPr lang="en-US" dirty="0"/>
          </a:p>
          <a:p>
            <a:r>
              <a:rPr lang="en-US" dirty="0"/>
              <a:t>For emptiness test, is check whether the constraint set represented by </a:t>
            </a:r>
            <a:r>
              <a:rPr lang="en-US" dirty="0" err="1"/>
              <a:t>tDBM</a:t>
            </a:r>
            <a:r>
              <a:rPr lang="en-US" dirty="0"/>
              <a:t> is feasible?</a:t>
            </a:r>
          </a:p>
          <a:p>
            <a:r>
              <a:rPr lang="en-US" dirty="0"/>
              <a:t>If not, the DBM is empty or UNSAT or bottom.</a:t>
            </a:r>
          </a:p>
          <a:p>
            <a:r>
              <a:rPr lang="en-US" dirty="0"/>
              <a:t>The way we do is applying saturation first to represent all implicit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1A47F-A8D6-7141-8995-7524C57AEF8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7192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Finally, we cover how the domain was built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share the results from our experiments.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1A47F-A8D6-7141-8995-7524C57AEF8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4895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implemented in Crab, an abstract interpreter.</a:t>
            </a:r>
          </a:p>
          <a:p>
            <a:endParaRPr lang="en-US" dirty="0"/>
          </a:p>
          <a:p>
            <a:r>
              <a:rPr lang="en-US" dirty="0"/>
              <a:t>And our new domain is built on top of the implementation for zones.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chose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implementation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because: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1A47F-A8D6-7141-8995-7524C57AEF8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4049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experiment is what we want at the beginning, to use abstract interpreter in a pipeline.</a:t>
            </a:r>
          </a:p>
          <a:p>
            <a:r>
              <a:rPr lang="en-US" dirty="0"/>
              <a:t>We have a case study where we apply the abstract interpreter into the bounded model checking pipeline.</a:t>
            </a:r>
          </a:p>
          <a:p>
            <a:endParaRPr lang="en-US" dirty="0"/>
          </a:p>
          <a:p>
            <a:r>
              <a:rPr lang="en-US" dirty="0"/>
              <a:t>So our pipeline goes like this:</a:t>
            </a:r>
          </a:p>
          <a:p>
            <a:endParaRPr lang="en-US" dirty="0"/>
          </a:p>
          <a:p>
            <a:r>
              <a:rPr lang="en-US" dirty="0"/>
              <a:t>We take source codes from two libraries from industry.</a:t>
            </a:r>
          </a:p>
          <a:p>
            <a:endParaRPr lang="en-US" dirty="0"/>
          </a:p>
          <a:p>
            <a:r>
              <a:rPr lang="en-US" dirty="0"/>
              <a:t>Along with our proof harness for verification.</a:t>
            </a:r>
          </a:p>
          <a:p>
            <a:endParaRPr lang="en-US" dirty="0"/>
          </a:p>
          <a:p>
            <a:r>
              <a:rPr lang="en-US" dirty="0"/>
              <a:t>Then we compile down to LLVM IR.</a:t>
            </a:r>
          </a:p>
          <a:p>
            <a:r>
              <a:rPr lang="en-US" dirty="0"/>
              <a:t>We insert checks on every memory access to ensure mem is safe.</a:t>
            </a:r>
          </a:p>
          <a:p>
            <a:endParaRPr lang="en-US" dirty="0"/>
          </a:p>
          <a:p>
            <a:r>
              <a:rPr lang="en-US" dirty="0"/>
              <a:t>Then we run the abstract interpreter twice. One before the loop </a:t>
            </a:r>
            <a:r>
              <a:rPr lang="en-US" dirty="0" err="1"/>
              <a:t>unrooling</a:t>
            </a:r>
            <a:r>
              <a:rPr lang="en-US" dirty="0"/>
              <a:t>. </a:t>
            </a:r>
          </a:p>
          <a:p>
            <a:r>
              <a:rPr lang="en-US" dirty="0"/>
              <a:t>And one after because this pipeline is for BMC.</a:t>
            </a:r>
          </a:p>
          <a:p>
            <a:endParaRPr lang="en-US" dirty="0"/>
          </a:p>
          <a:p>
            <a:r>
              <a:rPr lang="en-US" dirty="0"/>
              <a:t>Not explaining why we have this pipeline, if you are interested, please refer to this paper.</a:t>
            </a:r>
          </a:p>
          <a:p>
            <a:r>
              <a:rPr lang="en-US" dirty="0"/>
              <a:t>Here we only focus on </a:t>
            </a:r>
            <a:r>
              <a:rPr lang="en-US" dirty="0" err="1"/>
              <a:t>abstint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1A47F-A8D6-7141-8995-7524C57AEF8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50927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experiments focus on validating precision and performance of using our new domain for analysis,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compared to two existing domains: Zones and </a:t>
            </a:r>
            <a:r>
              <a:rPr lang="en-C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Polyhedra</a:t>
            </a: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 the only change of the analysis is just numerical domains, other domains we use the same.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selected 139 benchmarks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timeout is set for the entire pipeline duration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 reasons without comparing TVPI domain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benchmarks suite we use does not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Having a direct side-by-side evaluation is challenging.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1A47F-A8D6-7141-8995-7524C57AEF8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5045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points are too small. </a:t>
            </a:r>
          </a:p>
          <a:p>
            <a:endParaRPr lang="en-US" dirty="0"/>
          </a:p>
          <a:p>
            <a:r>
              <a:rPr lang="en-US" dirty="0"/>
              <a:t>X-axis for our new domain, Y-axis on the left is for Zones and the right is PK.</a:t>
            </a:r>
          </a:p>
          <a:p>
            <a:endParaRPr lang="en-US" dirty="0"/>
          </a:p>
          <a:p>
            <a:r>
              <a:rPr lang="en-US" dirty="0"/>
              <a:t>But the results here show that, compared to Zones, we did a pretty close performance in most benchmarks.</a:t>
            </a:r>
          </a:p>
          <a:p>
            <a:r>
              <a:rPr lang="en-US" dirty="0"/>
              <a:t>Compared to PK, using our domain scales well. PK has more timeouts cases and </a:t>
            </a:r>
          </a:p>
          <a:p>
            <a:r>
              <a:rPr lang="en-US" dirty="0"/>
              <a:t>[]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someone asks how does performance go depend on the size of code?</a:t>
            </a:r>
          </a:p>
          <a:p>
            <a:endParaRPr lang="en-US" dirty="0"/>
          </a:p>
          <a:p>
            <a:r>
              <a:rPr lang="en-US" dirty="0"/>
              <a:t>It varies, we have some benchmarks that even have code size that are large but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1A47F-A8D6-7141-8995-7524C57AEF8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992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precision, this table shows how much assertions they have in each category</a:t>
            </a:r>
          </a:p>
          <a:p>
            <a:r>
              <a:rPr lang="en-US" dirty="0"/>
              <a:t>And how much assertions that using each domain can prove in percentage.</a:t>
            </a:r>
          </a:p>
          <a:p>
            <a:endParaRPr lang="en-US" dirty="0"/>
          </a:p>
          <a:p>
            <a:r>
              <a:rPr lang="en-US" dirty="0"/>
              <a:t>[Click]</a:t>
            </a:r>
          </a:p>
          <a:p>
            <a:r>
              <a:rPr lang="en-US" dirty="0"/>
              <a:t>Our motivating example from this benchmark set.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And these two benchmark sets show Template DBM can prove more assertion checks than Zones and close to </a:t>
            </a:r>
            <a:r>
              <a:rPr lang="en-US" dirty="0" err="1"/>
              <a:t>Polyhedra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Here are also some benchmarks that </a:t>
            </a:r>
            <a:r>
              <a:rPr lang="en-US" dirty="0" err="1"/>
              <a:t>Polyhedra</a:t>
            </a:r>
            <a:r>
              <a:rPr lang="en-US" dirty="0"/>
              <a:t> cannot prove. These do not mean </a:t>
            </a:r>
            <a:r>
              <a:rPr lang="en-US" dirty="0" err="1"/>
              <a:t>Polyhedra</a:t>
            </a:r>
            <a:r>
              <a:rPr lang="en-US" dirty="0"/>
              <a:t> is imprecise in theory.</a:t>
            </a:r>
          </a:p>
          <a:p>
            <a:endParaRPr lang="en-US" dirty="0"/>
          </a:p>
          <a:p>
            <a:r>
              <a:rPr lang="en-US" dirty="0"/>
              <a:t>The imprecision is caused by implementation.</a:t>
            </a:r>
          </a:p>
          <a:p>
            <a:endParaRPr lang="en-US" dirty="0"/>
          </a:p>
          <a:p>
            <a:r>
              <a:rPr lang="en-US" dirty="0"/>
              <a:t>We list all details of the table in our paper. I do not have time to explain all of them here.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Fix </a:t>
            </a:r>
            <a:r>
              <a:rPr lang="en-US" dirty="0" err="1"/>
              <a:t>aws</a:t>
            </a:r>
            <a:r>
              <a:rPr lang="en-US" dirty="0"/>
              <a:t>-c-common -&gt; </a:t>
            </a:r>
            <a:r>
              <a:rPr lang="en-US" dirty="0" err="1"/>
              <a:t>aws</a:t>
            </a:r>
            <a:r>
              <a:rPr lang="en-US" dirty="0"/>
              <a:t>-c-libs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1A47F-A8D6-7141-8995-7524C57AEF8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43110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Overall, we designed and built a new abstract domain to express …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1A47F-A8D6-7141-8995-7524C57AEF8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51242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1A47F-A8D6-7141-8995-7524C57AEF8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81854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Why exponential time complexity?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Example, </a:t>
            </a:r>
            <a:r>
              <a:rPr lang="en-CA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Klee–Minty cube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Basically is such constraints set form a cube with exponential number of vertices.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TVPI domain achieve polynomial time algorithm?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requires you to read and understand how TVPI domain represent constraints.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Their join algorithms work as piece-wise convex hull. Why piece-wise? Because they represent constraints as a half matrix, each cell represent a subset constraints with respect to two variables.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just show why slow and how slow. If someone </a:t>
            </a:r>
            <a:r>
              <a:rPr lang="en-CA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ask,then</a:t>
            </a:r>
            <a:r>
              <a:rPr lang="en-CA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show this slide and explain.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Hide this slide and show table of </a:t>
            </a:r>
            <a:r>
              <a:rPr lang="en-CA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efficientcy</a:t>
            </a:r>
            <a:r>
              <a:rPr lang="en-CA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ok.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1A47F-A8D6-7141-8995-7524C57AEF8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80798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1A47F-A8D6-7141-8995-7524C57AEF8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77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4387C-47A7-E60E-845B-97C2DDB30E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B18A0E-547E-530F-99A8-C5CAF846C3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2D7EB-9CB6-A2BA-7BC7-12DEB8AD3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10/6/25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34A1F-F234-4E83-B09E-6E939543C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Template DBM - VSTTE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76885-AE8E-0208-DD2A-8A68AB846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72BF3-52D2-AC47-A795-455346AC0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960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569DC-A391-5D1A-54F2-48F4E5373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5025E-CD93-5D76-E102-91AB4D1B3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02CD1-CE95-6E99-DF68-24ADA34C4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800"/>
            </a:lvl1pPr>
          </a:lstStyle>
          <a:p>
            <a:r>
              <a:rPr lang="en-CA"/>
              <a:t>10/6/25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CF208-EA2C-C93C-88BB-78948877D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800"/>
            </a:lvl1pPr>
          </a:lstStyle>
          <a:p>
            <a:r>
              <a:rPr lang="en-US"/>
              <a:t>Template DBM - VSTTE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577D2-8F32-3130-C399-19ADD0382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/>
            </a:lvl1pPr>
          </a:lstStyle>
          <a:p>
            <a:fld id="{04172BF3-52D2-AC47-A795-455346AC07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946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AD983-CE72-8517-1896-3AAB8CBD1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F7917D-59E1-19F4-EC6E-41E9957DC9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2BEAE-D651-741F-E184-6E56667DB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10/6/25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C723E-30ED-21D8-9753-86C54EE80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Template DBM - VSTTE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72205-3A9A-AE4F-06C0-B4B4C3816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72BF3-52D2-AC47-A795-455346AC0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790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234F8-5EEC-BEA4-6C97-AC4183B0E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B874E-E727-37BA-AB95-E90072D4A2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839395-1FFF-F373-AECA-162C29C380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11D323-B89C-775E-BA13-66F5F2221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10/6/25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85BFBD-2B30-8D4D-94B3-FAF2596C9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Template DBM - VSTTE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CA1025-9696-D91D-4580-D4A2828DE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72BF3-52D2-AC47-A795-455346AC0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51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508B9-226A-534B-A2AA-F6AE57AA6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76696F-3B1B-DEFE-E496-5DE38B39EE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4CF79B-5BE7-5E59-351A-82960DEBE9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0BE557-1F8E-7204-8072-E7C52BCB99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F628D1-2BEC-910B-45DA-E866EDBC1F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73A734-8D76-8AB0-9C6E-82C29E28F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10/6/25</a:t>
            </a: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813B0F-AE4A-7D66-AB59-F799A3EA8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Template DBM - VSTTE 2025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E928C6-722D-7124-C2F5-03A342355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72BF3-52D2-AC47-A795-455346AC0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507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74426-9C32-0F06-A266-CA878C634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17FDA2-4224-073B-32A2-C446894EE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10/6/25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11C7BB-D82C-F9EF-B306-1DE35492E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Template DBM - VSTTE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601870-DAC3-4011-2423-3683320CC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72BF3-52D2-AC47-A795-455346AC0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415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62AF42-38C5-689D-A7BF-BC77CC809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10/6/25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6F2047-E311-07D2-79C9-8A0D16731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Template DBM - VSTTE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EC021D-8D3D-445D-2929-E09394A3C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72BF3-52D2-AC47-A795-455346AC0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892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447D6-B9BA-285F-AEA5-D829FAC6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4ABCB-37DA-2BE2-6E45-AD14DDBFB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564F74-B766-FB3D-C4A5-33F8D9F7AB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72D48E-BA0D-F887-A0AF-CAC2DEE0C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10/6/25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60CE92-E63C-4E91-DC8C-3D9C6E39E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Template DBM - VSTTE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DC602-E4FC-45B7-2C29-EF463228D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72BF3-52D2-AC47-A795-455346AC0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522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1594C-B80D-9317-3271-AEFEB47FC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8259F1-5C86-143C-1A09-2B7C1905C9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A18F0D-CD81-6195-F72B-93D7F0AA75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631CB-B412-1206-0677-0E1627E6D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10/6/25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BBF3C9-E967-A4C3-C5A6-F4655C317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Template DBM - VSTTE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8A014E-CA90-98A5-77DD-C6F717AFF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72BF3-52D2-AC47-A795-455346AC0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529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8FF46-021A-061A-67BD-970C710B0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EB8744-5F6A-D96E-5207-A4C9E892B2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F1C10-E322-9938-80DB-A86A880EB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10/6/25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E6949E-8744-F7C1-6CBD-7540D2D3F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Template DBM - VSTTE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0844E-5BA2-DFBE-147A-ADA5405C0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72BF3-52D2-AC47-A795-455346AC0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460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3F278A-DF87-E118-7D5D-CDA4D4A0F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032421-3DC7-2A68-4DBC-1EAF7162EF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7AB07-4430-EF39-1922-5A078E4AB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10/6/25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3AB41-47D2-A544-6C7F-BDF7F199C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Template DBM - VSTTE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394C4-24D9-D11D-18FE-968307FDB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72BF3-52D2-AC47-A795-455346AC0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905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E058C5-063F-9391-C7D4-AFE569B8D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20E8B8-F750-A9CF-E145-F95294EEE7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79787-5C35-935C-553C-24B31DD8F2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CA"/>
              <a:t>10/6/25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7C778-FC4D-7AFE-EAB0-C62C6C61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Template DBM - VSTTE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D4F66-81D1-A7C8-EB77-F8C882CC39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172BF3-52D2-AC47-A795-455346AC0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213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inerSu/crab/tree/tvpi_dbm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5281/zenodo.16075045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A person in a blue shirt&#10;&#10;AI-generated content may be incorrect.">
            <a:extLst>
              <a:ext uri="{FF2B5EF4-FFF2-40B4-BE49-F238E27FC236}">
                <a16:creationId xmlns:a16="http://schemas.microsoft.com/office/drawing/2014/main" id="{A1978D38-742B-B679-2E2D-AF2ED5FA33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40" r="3055" b="23729"/>
          <a:stretch>
            <a:fillRect/>
          </a:stretch>
        </p:blipFill>
        <p:spPr>
          <a:xfrm>
            <a:off x="7426179" y="4063150"/>
            <a:ext cx="1296730" cy="1296730"/>
          </a:xfrm>
          <a:prstGeom prst="ellipse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1DCF4C2-3D28-D661-41B6-9ED7C0B2F2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68362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/>
              <a:t>Template DBM: A New  Weakly Relational Domain for Efficient Memory-Access Validation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D70A8D-9154-4ADE-7A62-728CD6928F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40"/>
            <a:ext cx="9144000" cy="497048"/>
          </a:xfrm>
        </p:spPr>
        <p:txBody>
          <a:bodyPr/>
          <a:lstStyle/>
          <a:p>
            <a:r>
              <a:rPr lang="en-US" b="1" dirty="0">
                <a:solidFill>
                  <a:srgbClr val="FFA500"/>
                </a:solidFill>
              </a:rPr>
              <a:t>Yusen Su</a:t>
            </a:r>
            <a:r>
              <a:rPr lang="en-US" sz="2800" baseline="30000" dirty="0"/>
              <a:t>1</a:t>
            </a:r>
            <a:r>
              <a:rPr lang="en-US" dirty="0"/>
              <a:t>        Jorge A. Navas</a:t>
            </a:r>
            <a:r>
              <a:rPr lang="en-US" sz="2800" baseline="30000" dirty="0"/>
              <a:t>2</a:t>
            </a:r>
            <a:r>
              <a:rPr lang="en-US" dirty="0"/>
              <a:t>       Arie Gurfinkel</a:t>
            </a:r>
            <a:r>
              <a:rPr lang="en-US" sz="2800" baseline="30000" dirty="0"/>
              <a:t>1</a:t>
            </a:r>
            <a:endParaRPr lang="en-US" baseline="30000" dirty="0"/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0C5A70EE-43A8-BA16-CD98-6E23F0D7F7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7943" y="5942702"/>
            <a:ext cx="2088397" cy="60839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1A0C382-2538-19F2-1E23-86629CD9956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514" b="20860"/>
          <a:stretch>
            <a:fillRect/>
          </a:stretch>
        </p:blipFill>
        <p:spPr>
          <a:xfrm>
            <a:off x="3060337" y="4027212"/>
            <a:ext cx="1293168" cy="1296730"/>
          </a:xfrm>
          <a:custGeom>
            <a:avLst/>
            <a:gdLst>
              <a:gd name="connsiteX0" fmla="*/ 797454 w 1590527"/>
              <a:gd name="connsiteY0" fmla="*/ 0 h 1594908"/>
              <a:gd name="connsiteX1" fmla="*/ 1578707 w 1590527"/>
              <a:gd name="connsiteY1" fmla="*/ 636739 h 1594908"/>
              <a:gd name="connsiteX2" fmla="*/ 1590527 w 1590527"/>
              <a:gd name="connsiteY2" fmla="*/ 714190 h 1594908"/>
              <a:gd name="connsiteX3" fmla="*/ 1590527 w 1590527"/>
              <a:gd name="connsiteY3" fmla="*/ 880718 h 1594908"/>
              <a:gd name="connsiteX4" fmla="*/ 1578707 w 1590527"/>
              <a:gd name="connsiteY4" fmla="*/ 958169 h 1594908"/>
              <a:gd name="connsiteX5" fmla="*/ 797454 w 1590527"/>
              <a:gd name="connsiteY5" fmla="*/ 1594908 h 1594908"/>
              <a:gd name="connsiteX6" fmla="*/ 0 w 1590527"/>
              <a:gd name="connsiteY6" fmla="*/ 797454 h 1594908"/>
              <a:gd name="connsiteX7" fmla="*/ 797454 w 1590527"/>
              <a:gd name="connsiteY7" fmla="*/ 0 h 1594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90527" h="1594908">
                <a:moveTo>
                  <a:pt x="797454" y="0"/>
                </a:moveTo>
                <a:cubicBezTo>
                  <a:pt x="1182823" y="0"/>
                  <a:pt x="1504347" y="273353"/>
                  <a:pt x="1578707" y="636739"/>
                </a:cubicBezTo>
                <a:lnTo>
                  <a:pt x="1590527" y="714190"/>
                </a:lnTo>
                <a:lnTo>
                  <a:pt x="1590527" y="880718"/>
                </a:lnTo>
                <a:lnTo>
                  <a:pt x="1578707" y="958169"/>
                </a:lnTo>
                <a:cubicBezTo>
                  <a:pt x="1504347" y="1321556"/>
                  <a:pt x="1182823" y="1594908"/>
                  <a:pt x="797454" y="1594908"/>
                </a:cubicBezTo>
                <a:cubicBezTo>
                  <a:pt x="357032" y="1594908"/>
                  <a:pt x="0" y="1237876"/>
                  <a:pt x="0" y="797454"/>
                </a:cubicBezTo>
                <a:cubicBezTo>
                  <a:pt x="0" y="357032"/>
                  <a:pt x="357032" y="0"/>
                  <a:pt x="797454" y="0"/>
                </a:cubicBezTo>
                <a:close/>
              </a:path>
            </a:pathLst>
          </a:cu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5B57BCB-E1D9-32F3-111B-F0FC9E47216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569" t="2581" r="12869" b="8318"/>
          <a:stretch>
            <a:fillRect/>
          </a:stretch>
        </p:blipFill>
        <p:spPr>
          <a:xfrm>
            <a:off x="5241477" y="4027212"/>
            <a:ext cx="1296730" cy="1296730"/>
          </a:xfrm>
          <a:custGeom>
            <a:avLst/>
            <a:gdLst>
              <a:gd name="connsiteX0" fmla="*/ 797454 w 1594908"/>
              <a:gd name="connsiteY0" fmla="*/ 0 h 1594908"/>
              <a:gd name="connsiteX1" fmla="*/ 1594908 w 1594908"/>
              <a:gd name="connsiteY1" fmla="*/ 797454 h 1594908"/>
              <a:gd name="connsiteX2" fmla="*/ 797454 w 1594908"/>
              <a:gd name="connsiteY2" fmla="*/ 1594908 h 1594908"/>
              <a:gd name="connsiteX3" fmla="*/ 0 w 1594908"/>
              <a:gd name="connsiteY3" fmla="*/ 797454 h 1594908"/>
              <a:gd name="connsiteX4" fmla="*/ 797454 w 1594908"/>
              <a:gd name="connsiteY4" fmla="*/ 0 h 1594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4908" h="1594908">
                <a:moveTo>
                  <a:pt x="797454" y="0"/>
                </a:moveTo>
                <a:cubicBezTo>
                  <a:pt x="1237876" y="0"/>
                  <a:pt x="1594908" y="357032"/>
                  <a:pt x="1594908" y="797454"/>
                </a:cubicBezTo>
                <a:cubicBezTo>
                  <a:pt x="1594908" y="1237876"/>
                  <a:pt x="1237876" y="1594908"/>
                  <a:pt x="797454" y="1594908"/>
                </a:cubicBezTo>
                <a:cubicBezTo>
                  <a:pt x="357032" y="1594908"/>
                  <a:pt x="0" y="1237876"/>
                  <a:pt x="0" y="797454"/>
                </a:cubicBezTo>
                <a:cubicBezTo>
                  <a:pt x="0" y="357032"/>
                  <a:pt x="357032" y="0"/>
                  <a:pt x="797454" y="0"/>
                </a:cubicBezTo>
                <a:close/>
              </a:path>
            </a:pathLst>
          </a:cu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78F001F-6ACF-1B11-5393-0F47712BE24A}"/>
              </a:ext>
            </a:extLst>
          </p:cNvPr>
          <p:cNvSpPr txBox="1"/>
          <p:nvPr/>
        </p:nvSpPr>
        <p:spPr>
          <a:xfrm>
            <a:off x="2456423" y="5588624"/>
            <a:ext cx="27351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aseline="30000" dirty="0"/>
              <a:t>1</a:t>
            </a:r>
            <a:r>
              <a:rPr lang="en-US" sz="2000" dirty="0"/>
              <a:t>University of Waterloo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5B1BA1-C670-2315-C8D1-2D349AEC3885}"/>
              </a:ext>
            </a:extLst>
          </p:cNvPr>
          <p:cNvSpPr txBox="1"/>
          <p:nvPr/>
        </p:nvSpPr>
        <p:spPr>
          <a:xfrm>
            <a:off x="7395990" y="5588624"/>
            <a:ext cx="1612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aseline="30000" dirty="0"/>
              <a:t>2</a:t>
            </a:r>
            <a:r>
              <a:rPr lang="en-US" sz="2000" dirty="0"/>
              <a:t>Certora Inc.</a:t>
            </a:r>
            <a:endParaRPr lang="en-US" dirty="0"/>
          </a:p>
        </p:txBody>
      </p:sp>
      <p:pic>
        <p:nvPicPr>
          <p:cNvPr id="27" name="Picture 26" descr="A black background with text&#10;&#10;AI-generated content may be incorrect.">
            <a:extLst>
              <a:ext uri="{FF2B5EF4-FFF2-40B4-BE49-F238E27FC236}">
                <a16:creationId xmlns:a16="http://schemas.microsoft.com/office/drawing/2014/main" id="{A591C2A2-2929-DA41-9447-599824EF7F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43821" y="5734220"/>
            <a:ext cx="2540000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371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DB041-70E3-06BC-C7BE-2B7916703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73904-F90F-B2B4-D4C8-CA8DF3621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Approach: </a:t>
            </a:r>
            <a:r>
              <a:rPr lang="en-US" dirty="0">
                <a:solidFill>
                  <a:srgbClr val="FFA500"/>
                </a:solidFill>
              </a:rPr>
              <a:t>static</a:t>
            </a:r>
            <a:r>
              <a:rPr lang="en-US" dirty="0"/>
              <a:t> program analysis</a:t>
            </a:r>
          </a:p>
          <a:p>
            <a:pPr lvl="1"/>
            <a:r>
              <a:rPr lang="en-US" dirty="0"/>
              <a:t>To discover numerical properties of a program</a:t>
            </a:r>
          </a:p>
          <a:p>
            <a:pPr lvl="1"/>
            <a:r>
              <a:rPr lang="en-US" dirty="0"/>
              <a:t>Properties as relations between variables</a:t>
            </a:r>
          </a:p>
          <a:p>
            <a:pPr marL="0" indent="0">
              <a:buNone/>
            </a:pPr>
            <a:r>
              <a:rPr lang="en-US" dirty="0"/>
              <a:t>Goal: guarantee </a:t>
            </a:r>
            <a:r>
              <a:rPr lang="en-US" dirty="0">
                <a:solidFill>
                  <a:srgbClr val="FFA500"/>
                </a:solidFill>
              </a:rPr>
              <a:t>memory safety</a:t>
            </a:r>
          </a:p>
          <a:p>
            <a:pPr lvl="1"/>
            <a:r>
              <a:rPr lang="en-US" dirty="0"/>
              <a:t>C programs with assertion checks before memory access</a:t>
            </a:r>
          </a:p>
          <a:p>
            <a:pPr lvl="1"/>
            <a:r>
              <a:rPr lang="en-US" dirty="0"/>
              <a:t>Checks for buffer overflow</a:t>
            </a:r>
          </a:p>
          <a:p>
            <a:pPr marL="0" indent="0">
              <a:buNone/>
            </a:pPr>
            <a:r>
              <a:rPr lang="en-US" dirty="0"/>
              <a:t>Theory: </a:t>
            </a:r>
            <a:r>
              <a:rPr lang="en-US" dirty="0">
                <a:solidFill>
                  <a:srgbClr val="FFA500"/>
                </a:solidFill>
              </a:rPr>
              <a:t>abstract Interpretation</a:t>
            </a:r>
          </a:p>
          <a:p>
            <a:pPr lvl="1"/>
            <a:r>
              <a:rPr lang="en-US" dirty="0"/>
              <a:t>Sound approximations of semantics</a:t>
            </a:r>
          </a:p>
          <a:p>
            <a:pPr marL="0" indent="0">
              <a:buNone/>
            </a:pPr>
            <a:r>
              <a:rPr lang="en-US" dirty="0"/>
              <a:t>Contribution: </a:t>
            </a:r>
            <a:r>
              <a:rPr lang="en-US" dirty="0">
                <a:solidFill>
                  <a:srgbClr val="FFA500"/>
                </a:solidFill>
              </a:rPr>
              <a:t>abstract domain</a:t>
            </a:r>
          </a:p>
          <a:p>
            <a:pPr lvl="1"/>
            <a:r>
              <a:rPr lang="en-US" dirty="0"/>
              <a:t>A special structure to represent program properties</a:t>
            </a:r>
          </a:p>
          <a:p>
            <a:pPr lvl="1"/>
            <a:r>
              <a:rPr lang="en-US" dirty="0"/>
              <a:t>Algorithms supported for analysis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AA5541-79B3-7158-C83F-4DDFF2AAC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72BF3-52D2-AC47-A795-455346AC075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457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AD104-BCC7-D248-A9AF-7795BA0BA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64B03-1A09-996F-852F-66F40AB37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Relational Object Invariants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EDEF74-033C-9813-5F2D-49F689230F56}"/>
              </a:ext>
            </a:extLst>
          </p:cNvPr>
          <p:cNvSpPr txBox="1"/>
          <p:nvPr/>
        </p:nvSpPr>
        <p:spPr>
          <a:xfrm>
            <a:off x="459828" y="1476117"/>
            <a:ext cx="5636172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array_list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 int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size;</a:t>
            </a:r>
            <a:r>
              <a:rPr lang="en-US" sz="16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 // allocated size</a:t>
            </a:r>
            <a:endParaRPr lang="en-US" sz="16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 int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r>
              <a:rPr lang="en-US" sz="16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 // used length</a:t>
            </a:r>
            <a:endParaRPr lang="en-US" sz="16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 int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isz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r>
              <a:rPr lang="en-US" sz="16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 // item size</a:t>
            </a:r>
            <a:endParaRPr lang="en-US" sz="16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 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*data;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endParaRPr lang="en-US" sz="1600" dirty="0"/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idx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  if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6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&lt;= </a:t>
            </a:r>
            <a:r>
              <a:rPr lang="en-US" sz="1600" b="1" dirty="0" err="1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idx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&amp;&amp; </a:t>
            </a:r>
            <a:r>
              <a:rPr lang="en-US" sz="1600" b="1" dirty="0" err="1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idx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</a:t>
            </a:r>
            <a:r>
              <a:rPr lang="en-US" sz="1600" b="1" dirty="0" err="1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   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array_list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l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buNone/>
            </a:pPr>
            <a:r>
              <a:rPr lang="en-US" sz="1600" dirty="0">
                <a:solidFill>
                  <a:srgbClr val="0000FF"/>
                </a:solidFill>
                <a:latin typeface="Menlo" panose="020B0609030804020204" pitchFamily="49" charset="0"/>
              </a:rPr>
              <a:t>   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l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600" b="1" dirty="0" err="1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l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isz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r>
              <a:rPr lang="en-US" sz="16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 // 4 bytes</a:t>
            </a:r>
            <a:endParaRPr lang="en-US" sz="16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l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size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l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isz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l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l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6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malloc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l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size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    // Assume some code initializes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l.data</a:t>
            </a:r>
            <a:r>
              <a:rPr lang="en-US" sz="16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.</a:t>
            </a:r>
            <a:endParaRPr lang="en-US" sz="16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   </a:t>
            </a:r>
          </a:p>
          <a:p>
            <a:pPr>
              <a:buNone/>
            </a:pPr>
            <a:r>
              <a:rPr lang="zh-CN" alt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600" b="0" dirty="0">
                <a:effectLst/>
                <a:latin typeface="Menlo" panose="020B0609030804020204" pitchFamily="49" charset="0"/>
              </a:rPr>
              <a:t>……</a:t>
            </a:r>
            <a:r>
              <a:rPr lang="zh-CN" altLang="en-US" sz="1600" b="0" dirty="0">
                <a:effectLst/>
                <a:latin typeface="Menlo" panose="020B0609030804020204" pitchFamily="49" charset="0"/>
              </a:rPr>
              <a:t> </a:t>
            </a:r>
            <a:endParaRPr lang="en-US" sz="1600" b="0" dirty="0"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54D0028-8926-B4CD-2084-1E5EE7330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72BF3-52D2-AC47-A795-455346AC0757}" type="slidenum">
              <a:rPr lang="en-US" smtClean="0"/>
              <a:t>3</a:t>
            </a:fld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71B835-722D-7D93-92C5-7247961593FC}"/>
              </a:ext>
            </a:extLst>
          </p:cNvPr>
          <p:cNvSpPr txBox="1"/>
          <p:nvPr/>
        </p:nvSpPr>
        <p:spPr>
          <a:xfrm>
            <a:off x="94380" y="1502174"/>
            <a:ext cx="402739" cy="42780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/>
              <a:t>1</a:t>
            </a:r>
          </a:p>
          <a:p>
            <a:pPr algn="r"/>
            <a:r>
              <a:rPr lang="en-US" sz="1600"/>
              <a:t>2</a:t>
            </a:r>
          </a:p>
          <a:p>
            <a:pPr algn="r"/>
            <a:r>
              <a:rPr lang="en-US" sz="1600"/>
              <a:t>3</a:t>
            </a:r>
          </a:p>
          <a:p>
            <a:pPr algn="r"/>
            <a:r>
              <a:rPr lang="en-US" sz="1600"/>
              <a:t>4</a:t>
            </a:r>
          </a:p>
          <a:p>
            <a:pPr algn="r"/>
            <a:r>
              <a:rPr lang="en-US" sz="1600"/>
              <a:t>5</a:t>
            </a:r>
          </a:p>
          <a:p>
            <a:pPr algn="r"/>
            <a:r>
              <a:rPr lang="en-US" sz="1600"/>
              <a:t>6</a:t>
            </a:r>
          </a:p>
          <a:p>
            <a:pPr algn="r"/>
            <a:endParaRPr lang="en-US" sz="1600"/>
          </a:p>
          <a:p>
            <a:pPr algn="r"/>
            <a:r>
              <a:rPr lang="en-US" sz="1600"/>
              <a:t>7</a:t>
            </a:r>
          </a:p>
          <a:p>
            <a:pPr algn="r"/>
            <a:r>
              <a:rPr lang="en-US" sz="1600"/>
              <a:t>8</a:t>
            </a:r>
          </a:p>
          <a:p>
            <a:pPr algn="r"/>
            <a:r>
              <a:rPr lang="en-US" sz="1600"/>
              <a:t>9</a:t>
            </a:r>
          </a:p>
          <a:p>
            <a:pPr algn="r"/>
            <a:r>
              <a:rPr lang="en-US" sz="1600"/>
              <a:t>10</a:t>
            </a:r>
          </a:p>
          <a:p>
            <a:pPr algn="r"/>
            <a:r>
              <a:rPr lang="en-US" sz="1600"/>
              <a:t>11</a:t>
            </a:r>
          </a:p>
          <a:p>
            <a:pPr algn="r"/>
            <a:r>
              <a:rPr lang="en-US" sz="1600"/>
              <a:t>12</a:t>
            </a:r>
          </a:p>
          <a:p>
            <a:pPr algn="r"/>
            <a:r>
              <a:rPr lang="en-US" sz="1600"/>
              <a:t>13</a:t>
            </a:r>
          </a:p>
          <a:p>
            <a:pPr algn="r"/>
            <a:r>
              <a:rPr lang="en-US" sz="1600"/>
              <a:t>14</a:t>
            </a:r>
          </a:p>
          <a:p>
            <a:pPr algn="r"/>
            <a:r>
              <a:rPr lang="en-US" sz="1600"/>
              <a:t>15</a:t>
            </a:r>
          </a:p>
          <a:p>
            <a:pPr algn="r"/>
            <a:r>
              <a:rPr lang="en-US" sz="1600"/>
              <a:t>16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2DD1B13-5FE4-A7B0-D462-FF5FC440E249}"/>
              </a:ext>
            </a:extLst>
          </p:cNvPr>
          <p:cNvGrpSpPr/>
          <p:nvPr/>
        </p:nvGrpSpPr>
        <p:grpSpPr>
          <a:xfrm>
            <a:off x="5793470" y="1654608"/>
            <a:ext cx="5819121" cy="1403762"/>
            <a:chOff x="5793470" y="1783200"/>
            <a:chExt cx="5819121" cy="1403762"/>
          </a:xfrm>
        </p:grpSpPr>
        <p:sp>
          <p:nvSpPr>
            <p:cNvPr id="17" name="Pentagon 16">
              <a:extLst>
                <a:ext uri="{FF2B5EF4-FFF2-40B4-BE49-F238E27FC236}">
                  <a16:creationId xmlns:a16="http://schemas.microsoft.com/office/drawing/2014/main" id="{3147AB58-4FFC-6BDB-8452-CA31AC18B1A1}"/>
                </a:ext>
              </a:extLst>
            </p:cNvPr>
            <p:cNvSpPr/>
            <p:nvPr/>
          </p:nvSpPr>
          <p:spPr>
            <a:xfrm>
              <a:off x="5793470" y="1783200"/>
              <a:ext cx="1060587" cy="426593"/>
            </a:xfrm>
            <a:prstGeom prst="homePlat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Line 1</a:t>
              </a:r>
              <a:r>
                <a:rPr lang="en-US" altLang="zh-CN"/>
                <a:t>6</a:t>
              </a:r>
              <a:endParaRPr lang="en-US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CFD2D3E-44F7-644D-1EED-FBA038D7AA17}"/>
                </a:ext>
              </a:extLst>
            </p:cNvPr>
            <p:cNvGrpSpPr/>
            <p:nvPr/>
          </p:nvGrpSpPr>
          <p:grpSpPr>
            <a:xfrm>
              <a:off x="6323763" y="2228993"/>
              <a:ext cx="5288828" cy="957969"/>
              <a:chOff x="6323763" y="2228993"/>
              <a:chExt cx="5288828" cy="957969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81DA1449-2F92-3DF2-1A31-BF63E561C24E}"/>
                  </a:ext>
                </a:extLst>
              </p:cNvPr>
              <p:cNvGrpSpPr/>
              <p:nvPr/>
            </p:nvGrpSpPr>
            <p:grpSpPr>
              <a:xfrm>
                <a:off x="6917900" y="2796497"/>
                <a:ext cx="4694691" cy="369332"/>
                <a:chOff x="6854057" y="2309096"/>
                <a:chExt cx="4694691" cy="369332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F1298B91-E678-4EC4-CD25-13E96777350C}"/>
                    </a:ext>
                  </a:extLst>
                </p:cNvPr>
                <p:cNvGrpSpPr/>
                <p:nvPr/>
              </p:nvGrpSpPr>
              <p:grpSpPr>
                <a:xfrm>
                  <a:off x="6854057" y="2309096"/>
                  <a:ext cx="3513085" cy="369332"/>
                  <a:chOff x="6968358" y="1662978"/>
                  <a:chExt cx="3513085" cy="369332"/>
                </a:xfrm>
              </p:grpSpPr>
              <p:sp>
                <p:nvSpPr>
                  <p:cNvPr id="3" name="TextBox 2">
                    <a:extLst>
                      <a:ext uri="{FF2B5EF4-FFF2-40B4-BE49-F238E27FC236}">
                        <a16:creationId xmlns:a16="http://schemas.microsoft.com/office/drawing/2014/main" id="{432F93DA-87A0-CDE7-5F3C-5E4D0F2FD6C1}"/>
                      </a:ext>
                    </a:extLst>
                  </p:cNvPr>
                  <p:cNvSpPr txBox="1"/>
                  <p:nvPr/>
                </p:nvSpPr>
                <p:spPr>
                  <a:xfrm>
                    <a:off x="6968358" y="1662978"/>
                    <a:ext cx="872359" cy="369332"/>
                  </a:xfrm>
                  <a:prstGeom prst="rect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wrap="square" rtlCol="0" anchor="ctr" anchorCtr="1">
                    <a:spAutoFit/>
                  </a:bodyPr>
                  <a:lstStyle/>
                  <a:p>
                    <a:r>
                      <a:rPr lang="en-US" altLang="zh-CN"/>
                      <a:t>4</a:t>
                    </a:r>
                    <a:r>
                      <a:rPr lang="zh-CN" altLang="en-US"/>
                      <a:t>*</a:t>
                    </a:r>
                    <a:r>
                      <a:rPr lang="en-US" err="1">
                        <a:solidFill>
                          <a:srgbClr val="C00000"/>
                        </a:solidFill>
                        <a:latin typeface="Menlo" panose="020B0609030804020204" pitchFamily="49" charset="0"/>
                      </a:rPr>
                      <a:t>len</a:t>
                    </a:r>
                    <a:endParaRPr lang="en-US"/>
                  </a:p>
                </p:txBody>
              </p:sp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B40FC814-110E-D86E-B94F-204CD6AEED1B}"/>
                      </a:ext>
                    </a:extLst>
                  </p:cNvPr>
                  <p:cNvSpPr txBox="1"/>
                  <p:nvPr/>
                </p:nvSpPr>
                <p:spPr>
                  <a:xfrm>
                    <a:off x="7840716" y="1662978"/>
                    <a:ext cx="872359" cy="369332"/>
                  </a:xfrm>
                  <a:prstGeom prst="rect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wrap="square" rtlCol="0" anchor="ctr" anchorCtr="1">
                    <a:spAutoFit/>
                  </a:bodyPr>
                  <a:lstStyle/>
                  <a:p>
                    <a:r>
                      <a:rPr lang="en-US" err="1">
                        <a:solidFill>
                          <a:srgbClr val="C00000"/>
                        </a:solidFill>
                        <a:latin typeface="Menlo" panose="020B0609030804020204" pitchFamily="49" charset="0"/>
                      </a:rPr>
                      <a:t>len</a:t>
                    </a:r>
                    <a:endParaRPr lang="en-US"/>
                  </a:p>
                </p:txBody>
              </p:sp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2CBD84F0-5A0A-5A9F-488D-1175C20B231E}"/>
                      </a:ext>
                    </a:extLst>
                  </p:cNvPr>
                  <p:cNvSpPr txBox="1"/>
                  <p:nvPr/>
                </p:nvSpPr>
                <p:spPr>
                  <a:xfrm>
                    <a:off x="8724900" y="1662978"/>
                    <a:ext cx="872359" cy="369332"/>
                  </a:xfrm>
                  <a:prstGeom prst="rect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wrap="square" rtlCol="0" anchor="ctr" anchorCtr="1">
                    <a:spAutoFit/>
                  </a:bodyPr>
                  <a:lstStyle/>
                  <a:p>
                    <a:r>
                      <a:rPr lang="en-US" altLang="zh-CN"/>
                      <a:t>4</a:t>
                    </a:r>
                    <a:endParaRPr lang="en-US"/>
                  </a:p>
                </p:txBody>
              </p:sp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9D20F904-37BB-D3F4-F144-75F91E60984E}"/>
                      </a:ext>
                    </a:extLst>
                  </p:cNvPr>
                  <p:cNvSpPr txBox="1"/>
                  <p:nvPr/>
                </p:nvSpPr>
                <p:spPr>
                  <a:xfrm>
                    <a:off x="9609084" y="1662978"/>
                    <a:ext cx="872359" cy="369332"/>
                  </a:xfrm>
                  <a:prstGeom prst="rect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wrap="square" rtlCol="0" anchor="ctr" anchorCtr="1">
                    <a:spAutoFit/>
                  </a:bodyPr>
                  <a:lstStyle/>
                  <a:p>
                    <a:r>
                      <a:rPr lang="en-US" altLang="zh-CN"/>
                      <a:t>0x100</a:t>
                    </a:r>
                    <a:endParaRPr lang="en-US"/>
                  </a:p>
                </p:txBody>
              </p:sp>
            </p:grpSp>
            <p:cxnSp>
              <p:nvCxnSpPr>
                <p:cNvPr id="19" name="直线箭头连接符 8">
                  <a:extLst>
                    <a:ext uri="{FF2B5EF4-FFF2-40B4-BE49-F238E27FC236}">
                      <a16:creationId xmlns:a16="http://schemas.microsoft.com/office/drawing/2014/main" id="{399AE1F9-9B9F-43D4-189A-623160F626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376238" y="2508032"/>
                  <a:ext cx="260673" cy="0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9AEB368-438B-6FB7-C867-E69CF132F2E6}"/>
                    </a:ext>
                  </a:extLst>
                </p:cNvPr>
                <p:cNvSpPr txBox="1"/>
                <p:nvPr/>
              </p:nvSpPr>
              <p:spPr>
                <a:xfrm>
                  <a:off x="10676389" y="2309096"/>
                  <a:ext cx="872359" cy="369332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 anchor="ctr" anchorCtr="1">
                  <a:spAutoFit/>
                </a:bodyPr>
                <a:lstStyle/>
                <a:p>
                  <a:r>
                    <a:rPr lang="en-US" altLang="zh-CN"/>
                    <a:t>…</a:t>
                  </a:r>
                  <a:endParaRPr lang="en-US"/>
                </a:p>
              </p:txBody>
            </p:sp>
          </p:grp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C7C1508-F9F2-2859-864A-BC880814E314}"/>
                  </a:ext>
                </a:extLst>
              </p:cNvPr>
              <p:cNvSpPr txBox="1"/>
              <p:nvPr/>
            </p:nvSpPr>
            <p:spPr>
              <a:xfrm>
                <a:off x="6323763" y="2803903"/>
                <a:ext cx="317832" cy="383059"/>
              </a:xfrm>
              <a:prstGeom prst="rect">
                <a:avLst/>
              </a:prstGeom>
              <a:noFill/>
            </p:spPr>
            <p:txBody>
              <a:bodyPr wrap="square" rtlCol="0" anchor="ctr" anchorCtr="1">
                <a:spAutoFit/>
              </a:bodyPr>
              <a:lstStyle/>
              <a:p>
                <a:r>
                  <a:rPr lang="en-US" altLang="zh-CN" dirty="0">
                    <a:highlight>
                      <a:srgbClr val="FFFF00"/>
                    </a:highlight>
                  </a:rPr>
                  <a:t>l:</a:t>
                </a:r>
                <a:endParaRPr lang="en-US" dirty="0">
                  <a:highlight>
                    <a:srgbClr val="FFFF00"/>
                  </a:highlight>
                </a:endParaRPr>
              </a:p>
            </p:txBody>
          </p: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036E5E09-308A-A8D6-EDDA-9622B2FCCDD6}"/>
                  </a:ext>
                </a:extLst>
              </p:cNvPr>
              <p:cNvGrpSpPr/>
              <p:nvPr/>
            </p:nvGrpSpPr>
            <p:grpSpPr>
              <a:xfrm>
                <a:off x="6907603" y="2228993"/>
                <a:ext cx="4694691" cy="369332"/>
                <a:chOff x="6854057" y="2309096"/>
                <a:chExt cx="4694691" cy="369332"/>
              </a:xfrm>
            </p:grpSpPr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92F4F591-2812-5B8F-541C-964CE89F679E}"/>
                    </a:ext>
                  </a:extLst>
                </p:cNvPr>
                <p:cNvGrpSpPr/>
                <p:nvPr/>
              </p:nvGrpSpPr>
              <p:grpSpPr>
                <a:xfrm>
                  <a:off x="6854057" y="2309096"/>
                  <a:ext cx="3513085" cy="369332"/>
                  <a:chOff x="6968358" y="1662978"/>
                  <a:chExt cx="3513085" cy="369332"/>
                </a:xfrm>
              </p:grpSpPr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F56BA87D-9850-7DF0-0D74-76AB60675405}"/>
                      </a:ext>
                    </a:extLst>
                  </p:cNvPr>
                  <p:cNvSpPr txBox="1"/>
                  <p:nvPr/>
                </p:nvSpPr>
                <p:spPr>
                  <a:xfrm>
                    <a:off x="6968358" y="1662978"/>
                    <a:ext cx="872359" cy="369332"/>
                  </a:xfrm>
                  <a:prstGeom prst="rect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wrap="square" rtlCol="0" anchor="ctr" anchorCtr="1">
                    <a:spAutoFit/>
                  </a:bodyPr>
                  <a:lstStyle/>
                  <a:p>
                    <a:r>
                      <a:rPr lang="en-US"/>
                      <a:t>size</a:t>
                    </a:r>
                  </a:p>
                </p:txBody>
              </p:sp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B3AAE0CA-A17A-0677-1D60-80A02A0BADE0}"/>
                      </a:ext>
                    </a:extLst>
                  </p:cNvPr>
                  <p:cNvSpPr txBox="1"/>
                  <p:nvPr/>
                </p:nvSpPr>
                <p:spPr>
                  <a:xfrm>
                    <a:off x="7840716" y="1662978"/>
                    <a:ext cx="872359" cy="369332"/>
                  </a:xfrm>
                  <a:prstGeom prst="rect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wrap="square" rtlCol="0" anchor="ctr" anchorCtr="1">
                    <a:spAutoFit/>
                  </a:bodyPr>
                  <a:lstStyle/>
                  <a:p>
                    <a:r>
                      <a:rPr lang="en-US" err="1"/>
                      <a:t>len</a:t>
                    </a:r>
                    <a:endParaRPr lang="en-US"/>
                  </a:p>
                </p:txBody>
              </p:sp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5FBF724B-2D95-14AB-98C0-8B0A523B9CAC}"/>
                      </a:ext>
                    </a:extLst>
                  </p:cNvPr>
                  <p:cNvSpPr txBox="1"/>
                  <p:nvPr/>
                </p:nvSpPr>
                <p:spPr>
                  <a:xfrm>
                    <a:off x="8724900" y="1662978"/>
                    <a:ext cx="872359" cy="369332"/>
                  </a:xfrm>
                  <a:prstGeom prst="rect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wrap="square" rtlCol="0" anchor="ctr" anchorCtr="1">
                    <a:spAutoFit/>
                  </a:bodyPr>
                  <a:lstStyle/>
                  <a:p>
                    <a:r>
                      <a:rPr lang="en-US" err="1"/>
                      <a:t>isz</a:t>
                    </a:r>
                    <a:endParaRPr lang="en-US"/>
                  </a:p>
                </p:txBody>
              </p:sp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18EC9DB9-5582-B0F3-A338-08AE31DC6A6D}"/>
                      </a:ext>
                    </a:extLst>
                  </p:cNvPr>
                  <p:cNvSpPr txBox="1"/>
                  <p:nvPr/>
                </p:nvSpPr>
                <p:spPr>
                  <a:xfrm>
                    <a:off x="9609084" y="1662978"/>
                    <a:ext cx="872359" cy="369332"/>
                  </a:xfrm>
                  <a:prstGeom prst="rect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wrap="square" rtlCol="0" anchor="ctr" anchorCtr="1">
                    <a:spAutoFit/>
                  </a:bodyPr>
                  <a:lstStyle/>
                  <a:p>
                    <a:r>
                      <a:rPr lang="en-US"/>
                      <a:t>data</a:t>
                    </a:r>
                  </a:p>
                </p:txBody>
              </p:sp>
            </p:grpSp>
            <p:cxnSp>
              <p:nvCxnSpPr>
                <p:cNvPr id="28" name="直线箭头连接符 8">
                  <a:extLst>
                    <a:ext uri="{FF2B5EF4-FFF2-40B4-BE49-F238E27FC236}">
                      <a16:creationId xmlns:a16="http://schemas.microsoft.com/office/drawing/2014/main" id="{40CBDD46-F3EC-3E86-10E8-7950F5A5B3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376238" y="2508032"/>
                  <a:ext cx="260673" cy="0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F06C398C-F238-6F2D-FCD8-FCF7354DCC52}"/>
                    </a:ext>
                  </a:extLst>
                </p:cNvPr>
                <p:cNvSpPr txBox="1"/>
                <p:nvPr/>
              </p:nvSpPr>
              <p:spPr>
                <a:xfrm>
                  <a:off x="10676389" y="2309096"/>
                  <a:ext cx="872359" cy="369332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 anchor="ctr" anchorCtr="1">
                  <a:spAutoFit/>
                </a:bodyPr>
                <a:lstStyle/>
                <a:p>
                  <a:r>
                    <a:rPr lang="en-US"/>
                    <a:t>arr</a:t>
                  </a:r>
                  <a:r>
                    <a:rPr lang="en-US" altLang="zh-CN"/>
                    <a:t>ay</a:t>
                  </a:r>
                  <a:endParaRPr lang="en-US"/>
                </a:p>
              </p:txBody>
            </p:sp>
          </p:grp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1B5BBF2D-0746-10C4-3E3E-F70763B44CE9}"/>
              </a:ext>
            </a:extLst>
          </p:cNvPr>
          <p:cNvSpPr/>
          <p:nvPr/>
        </p:nvSpPr>
        <p:spPr>
          <a:xfrm>
            <a:off x="188465" y="5430651"/>
            <a:ext cx="5913659" cy="257691"/>
          </a:xfrm>
          <a:prstGeom prst="rect">
            <a:avLst/>
          </a:prstGeom>
          <a:solidFill>
            <a:schemeClr val="accent1">
              <a:alpha val="806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27898D-1051-5077-C81A-ECF66BABE473}"/>
              </a:ext>
            </a:extLst>
          </p:cNvPr>
          <p:cNvSpPr txBox="1"/>
          <p:nvPr/>
        </p:nvSpPr>
        <p:spPr>
          <a:xfrm>
            <a:off x="6707971" y="4902381"/>
            <a:ext cx="5024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Relational invariants for </a:t>
            </a:r>
            <a:r>
              <a:rPr lang="en-US" err="1">
                <a:solidFill>
                  <a:srgbClr val="001080"/>
                </a:solidFill>
                <a:latin typeface="Menlo" panose="020B0609030804020204" pitchFamily="49" charset="0"/>
              </a:rPr>
              <a:t>l</a:t>
            </a:r>
            <a:r>
              <a:rPr lang="en-US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-US" err="1">
                <a:solidFill>
                  <a:srgbClr val="001080"/>
                </a:solidFill>
                <a:latin typeface="Menlo" panose="020B0609030804020204" pitchFamily="49" charset="0"/>
              </a:rPr>
              <a:t>data</a:t>
            </a:r>
            <a:r>
              <a:rPr lang="en-US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val Callout 34">
                <a:extLst>
                  <a:ext uri="{FF2B5EF4-FFF2-40B4-BE49-F238E27FC236}">
                    <a16:creationId xmlns:a16="http://schemas.microsoft.com/office/drawing/2014/main" id="{E79DDFB8-ECB0-65D5-ABEF-7C99941447BB}"/>
                  </a:ext>
                </a:extLst>
              </p:cNvPr>
              <p:cNvSpPr/>
              <p:nvPr/>
            </p:nvSpPr>
            <p:spPr>
              <a:xfrm>
                <a:off x="6707971" y="3427240"/>
                <a:ext cx="4784706" cy="1147992"/>
              </a:xfrm>
              <a:prstGeom prst="wedgeEllipseCallout">
                <a:avLst>
                  <a:gd name="adj1" fmla="val 18526"/>
                  <a:gd name="adj2" fmla="val -70078"/>
                </a:avLst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A pointer with “fat” information: </a:t>
                </a:r>
              </a:p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the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rPr>
                      <m:t>size</m:t>
                    </m:r>
                  </m:oMath>
                </a14:m>
                <a:r>
                  <a:rPr lang="en-US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rPr>
                      <m:t>offset</m:t>
                    </m:r>
                  </m:oMath>
                </a14:m>
                <a:r>
                  <a:rPr lang="en-US">
                    <a:solidFill>
                      <a:schemeClr val="tx1"/>
                    </a:solidFill>
                  </a:rPr>
                  <a:t> of the data being pointed to</a:t>
                </a:r>
              </a:p>
            </p:txBody>
          </p:sp>
        </mc:Choice>
        <mc:Fallback xmlns="">
          <p:sp>
            <p:nvSpPr>
              <p:cNvPr id="35" name="Oval Callout 34">
                <a:extLst>
                  <a:ext uri="{FF2B5EF4-FFF2-40B4-BE49-F238E27FC236}">
                    <a16:creationId xmlns:a16="http://schemas.microsoft.com/office/drawing/2014/main" id="{E79DDFB8-ECB0-65D5-ABEF-7C99941447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7971" y="3427240"/>
                <a:ext cx="4784706" cy="1147992"/>
              </a:xfrm>
              <a:prstGeom prst="wedgeEllipseCallout">
                <a:avLst>
                  <a:gd name="adj1" fmla="val 18526"/>
                  <a:gd name="adj2" fmla="val -70078"/>
                </a:avLst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989E2B1-7D7D-16C4-66D6-7C94880E7A71}"/>
                  </a:ext>
                </a:extLst>
              </p:cNvPr>
              <p:cNvSpPr txBox="1"/>
              <p:nvPr/>
            </p:nvSpPr>
            <p:spPr>
              <a:xfrm>
                <a:off x="7790258" y="5336703"/>
                <a:ext cx="2732319" cy="646331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ffectLst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𝑑𝑎𝑡𝑎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m:t>offset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i="1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cs typeface="Consolas" panose="020B0609020204030204" pitchFamily="49" charset="0"/>
                        </a:rPr>
                        <m:t>𝑙</m:t>
                      </m:r>
                      <m:r>
                        <a:rPr lang="en-US" i="1">
                          <a:latin typeface="Cambria Math" panose="02040503050406030204" pitchFamily="18" charset="0"/>
                          <a:cs typeface="Consolas" panose="020B0609020204030204" pitchFamily="49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  <a:cs typeface="Consolas" panose="020B0609020204030204" pitchFamily="49" charset="0"/>
                        </a:rPr>
                        <m:t>𝑑𝑎𝑡𝑎</m:t>
                      </m:r>
                      <m:r>
                        <a:rPr lang="en-US" i="1">
                          <a:latin typeface="Cambria Math" panose="02040503050406030204" pitchFamily="18" charset="0"/>
                          <a:cs typeface="Consolas" panose="020B0609020204030204" pitchFamily="49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m:t>size</m:t>
                      </m:r>
                      <m:r>
                        <a:rPr lang="en-US" i="1">
                          <a:latin typeface="Cambria Math" panose="02040503050406030204" pitchFamily="18" charset="0"/>
                          <a:cs typeface="Consolas" panose="020B0609020204030204" pitchFamily="49" charset="0"/>
                        </a:rPr>
                        <m:t>=4∗</m:t>
                      </m:r>
                      <m:r>
                        <a:rPr lang="en-US" i="1">
                          <a:latin typeface="Cambria Math" panose="02040503050406030204" pitchFamily="18" charset="0"/>
                          <a:cs typeface="Consolas" panose="020B0609020204030204" pitchFamily="49" charset="0"/>
                        </a:rPr>
                        <m:t>𝑙</m:t>
                      </m:r>
                      <m:r>
                        <a:rPr lang="en-US" i="1">
                          <a:latin typeface="Cambria Math" panose="02040503050406030204" pitchFamily="18" charset="0"/>
                          <a:cs typeface="Consolas" panose="020B0609020204030204" pitchFamily="49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  <a:cs typeface="Consolas" panose="020B0609020204030204" pitchFamily="49" charset="0"/>
                        </a:rPr>
                        <m:t>𝑙𝑒𝑛</m:t>
                      </m:r>
                    </m:oMath>
                  </m:oMathPara>
                </a14:m>
                <a:endParaRPr lang="en-US" i="1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989E2B1-7D7D-16C4-66D6-7C94880E7A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0258" y="5336703"/>
                <a:ext cx="2732319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3097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5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CC882-32F9-E788-7594-C0C072252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Bounds Checking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0ED5C8-E9DD-C29F-5B56-A474DD99EAE7}"/>
              </a:ext>
            </a:extLst>
          </p:cNvPr>
          <p:cNvSpPr txBox="1"/>
          <p:nvPr/>
        </p:nvSpPr>
        <p:spPr>
          <a:xfrm>
            <a:off x="459828" y="1476117"/>
            <a:ext cx="563617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array_list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 int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size;</a:t>
            </a:r>
            <a:r>
              <a:rPr lang="en-US" sz="16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 // allocated size</a:t>
            </a:r>
            <a:endParaRPr lang="en-US" sz="16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 int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r>
              <a:rPr lang="en-US" sz="16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 // used length</a:t>
            </a:r>
            <a:endParaRPr lang="en-US" sz="16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 int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isz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r>
              <a:rPr lang="en-US" sz="16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 // item size</a:t>
            </a:r>
            <a:endParaRPr lang="en-US" sz="16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 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*data;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endParaRPr lang="en-US" sz="1600" dirty="0"/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idx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  if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6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idx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&amp;&amp;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idx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   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array_list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1" dirty="0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l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buNone/>
            </a:pPr>
            <a:r>
              <a:rPr lang="en-US" sz="1600" dirty="0">
                <a:solidFill>
                  <a:srgbClr val="0000FF"/>
                </a:solidFill>
                <a:latin typeface="Menlo" panose="020B0609030804020204" pitchFamily="49" charset="0"/>
              </a:rPr>
              <a:t>   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l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l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isz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r>
              <a:rPr lang="en-US" sz="16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 // 4 bytes</a:t>
            </a:r>
            <a:endParaRPr lang="en-US" sz="16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l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size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l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isz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l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l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6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malloc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l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size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    // Assume some code initializes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l.data</a:t>
            </a:r>
            <a:r>
              <a:rPr lang="en-US" sz="16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.</a:t>
            </a:r>
            <a:endParaRPr lang="en-US" sz="16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   </a:t>
            </a:r>
          </a:p>
          <a:p>
            <a:pPr>
              <a:buNone/>
            </a:pPr>
            <a:r>
              <a:rPr lang="en-US" sz="1600" dirty="0">
                <a:solidFill>
                  <a:srgbClr val="0000FF"/>
                </a:solidFill>
                <a:latin typeface="Menlo" panose="020B0609030804020204" pitchFamily="49" charset="0"/>
              </a:rPr>
              <a:t>    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600" b="1" dirty="0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item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6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malloc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l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isz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));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   int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ret =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get_at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</a:t>
            </a:r>
            <a:r>
              <a:rPr lang="en-US" sz="1600" b="1" dirty="0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l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b="1" dirty="0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item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b="1" dirty="0" err="1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idx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    assert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(ret == </a:t>
            </a:r>
            <a:r>
              <a:rPr lang="en-US" sz="16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A77D97-468E-D112-EF62-819CA807D417}"/>
              </a:ext>
            </a:extLst>
          </p:cNvPr>
          <p:cNvSpPr txBox="1"/>
          <p:nvPr/>
        </p:nvSpPr>
        <p:spPr>
          <a:xfrm>
            <a:off x="6613634" y="2953445"/>
            <a:ext cx="500292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get_at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array_list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600" b="1" dirty="0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l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          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idx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  if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l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-&gt;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&gt; </a:t>
            </a:r>
            <a:r>
              <a:rPr lang="en-US" sz="1600" b="1" dirty="0" err="1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idx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   int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ofs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l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-&gt;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isz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 </a:t>
            </a:r>
            <a:r>
              <a:rPr lang="en-US" sz="1600" b="1" dirty="0" err="1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idx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   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*p = (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uint8_t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*)</a:t>
            </a:r>
            <a:r>
              <a:rPr lang="en-US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l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-&gt;</a:t>
            </a:r>
            <a:r>
              <a:rPr lang="en-US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+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ofs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    assert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valid_access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(p, </a:t>
            </a:r>
            <a:r>
              <a:rPr lang="en-US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l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-&gt;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isz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));</a:t>
            </a:r>
          </a:p>
          <a:p>
            <a:pPr>
              <a:buNone/>
            </a:pPr>
            <a:r>
              <a:rPr lang="en-US" sz="16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    assert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valid_access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l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-&gt;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isz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));</a:t>
            </a:r>
          </a:p>
          <a:p>
            <a:pPr>
              <a:buNone/>
            </a:pPr>
            <a:r>
              <a:rPr lang="en-US" sz="16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memcpy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p, </a:t>
            </a:r>
            <a:r>
              <a:rPr lang="en-US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l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-&gt;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isz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    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} </a:t>
            </a:r>
            <a:r>
              <a:rPr lang="en-US" sz="16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    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-</a:t>
            </a:r>
            <a:r>
              <a:rPr lang="en-US" sz="16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D54A58F-DF2F-3C9D-4E1C-3B254693230F}"/>
                  </a:ext>
                </a:extLst>
              </p:cNvPr>
              <p:cNvSpPr txBox="1"/>
              <p:nvPr/>
            </p:nvSpPr>
            <p:spPr>
              <a:xfrm>
                <a:off x="5441013" y="1917019"/>
                <a:ext cx="2951129" cy="64639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dirty="0"/>
                  <a:t>To prove the check requires: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m:t>offset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+4≤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m:t>size</m:t>
                      </m:r>
                    </m:oMath>
                  </m:oMathPara>
                </a14:m>
                <a:br>
                  <a:rPr lang="en-US" b="0" dirty="0"/>
                </a:br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D54A58F-DF2F-3C9D-4E1C-3B2546932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1013" y="1917019"/>
                <a:ext cx="2951129" cy="646395"/>
              </a:xfrm>
              <a:prstGeom prst="rect">
                <a:avLst/>
              </a:prstGeom>
              <a:blipFill>
                <a:blip r:embed="rId3"/>
                <a:stretch>
                  <a:fillRect l="-1709" t="-3774" r="-427"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F387BE6-2CA9-5E66-AFC7-18BC9807F179}"/>
                  </a:ext>
                </a:extLst>
              </p:cNvPr>
              <p:cNvSpPr txBox="1"/>
              <p:nvPr/>
            </p:nvSpPr>
            <p:spPr>
              <a:xfrm>
                <a:off x="9602037" y="1751546"/>
                <a:ext cx="2195024" cy="92333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m:t>offset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𝑖𝑑𝑥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m:t>size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𝑙𝑒𝑛</m:t>
                      </m:r>
                    </m:oMath>
                    <m:oMath xmlns:m="http://schemas.openxmlformats.org/officeDocument/2006/math"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0≤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𝑖𝑑𝑥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𝑙𝑒𝑛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F387BE6-2CA9-5E66-AFC7-18BC9807F1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2037" y="1751546"/>
                <a:ext cx="2195024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07F939C-5014-FCFB-1228-3AED16FFE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72BF3-52D2-AC47-A795-455346AC0757}" type="slidenum">
              <a:rPr lang="en-US" smtClean="0"/>
              <a:t>4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F1BC36-9590-F0CE-37C8-88FFEF8E6AD5}"/>
              </a:ext>
            </a:extLst>
          </p:cNvPr>
          <p:cNvSpPr txBox="1"/>
          <p:nvPr/>
        </p:nvSpPr>
        <p:spPr>
          <a:xfrm>
            <a:off x="94380" y="1502174"/>
            <a:ext cx="402739" cy="4770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/>
              <a:t>1</a:t>
            </a:r>
          </a:p>
          <a:p>
            <a:pPr algn="r"/>
            <a:r>
              <a:rPr lang="en-US" sz="1600" dirty="0"/>
              <a:t>2</a:t>
            </a:r>
          </a:p>
          <a:p>
            <a:pPr algn="r"/>
            <a:r>
              <a:rPr lang="en-US" sz="1600" dirty="0"/>
              <a:t>3</a:t>
            </a:r>
          </a:p>
          <a:p>
            <a:pPr algn="r"/>
            <a:r>
              <a:rPr lang="en-US" sz="1600" dirty="0"/>
              <a:t>4</a:t>
            </a:r>
          </a:p>
          <a:p>
            <a:pPr algn="r"/>
            <a:r>
              <a:rPr lang="en-US" sz="1600" dirty="0"/>
              <a:t>5</a:t>
            </a:r>
          </a:p>
          <a:p>
            <a:pPr algn="r"/>
            <a:r>
              <a:rPr lang="en-US" sz="1600" dirty="0"/>
              <a:t>6</a:t>
            </a:r>
          </a:p>
          <a:p>
            <a:pPr algn="r"/>
            <a:endParaRPr lang="en-US" sz="1600" dirty="0"/>
          </a:p>
          <a:p>
            <a:pPr algn="r"/>
            <a:r>
              <a:rPr lang="en-US" sz="1600" dirty="0"/>
              <a:t>7</a:t>
            </a:r>
          </a:p>
          <a:p>
            <a:pPr algn="r"/>
            <a:r>
              <a:rPr lang="en-US" sz="1600" dirty="0"/>
              <a:t>8</a:t>
            </a:r>
          </a:p>
          <a:p>
            <a:pPr algn="r"/>
            <a:r>
              <a:rPr lang="en-US" sz="1600" dirty="0"/>
              <a:t>9</a:t>
            </a:r>
          </a:p>
          <a:p>
            <a:pPr algn="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10</a:t>
            </a:r>
          </a:p>
          <a:p>
            <a:pPr algn="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11</a:t>
            </a:r>
          </a:p>
          <a:p>
            <a:pPr algn="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12</a:t>
            </a:r>
          </a:p>
          <a:p>
            <a:pPr algn="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13</a:t>
            </a:r>
          </a:p>
          <a:p>
            <a:pPr algn="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14</a:t>
            </a:r>
          </a:p>
          <a:p>
            <a:pPr algn="r"/>
            <a:r>
              <a:rPr lang="en-US" sz="1600" dirty="0"/>
              <a:t>15</a:t>
            </a:r>
          </a:p>
          <a:p>
            <a:pPr algn="r"/>
            <a:r>
              <a:rPr lang="en-US" sz="1600" dirty="0"/>
              <a:t>16</a:t>
            </a:r>
          </a:p>
          <a:p>
            <a:pPr algn="r"/>
            <a:r>
              <a:rPr lang="en-US" altLang="zh-CN" sz="1600" dirty="0"/>
              <a:t>17</a:t>
            </a:r>
          </a:p>
          <a:p>
            <a:pPr algn="r"/>
            <a:r>
              <a:rPr lang="en-US" sz="1600" dirty="0"/>
              <a:t>18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0F4C2D-550D-5F77-03CC-2AC7A27A3F67}"/>
              </a:ext>
            </a:extLst>
          </p:cNvPr>
          <p:cNvSpPr txBox="1"/>
          <p:nvPr/>
        </p:nvSpPr>
        <p:spPr>
          <a:xfrm>
            <a:off x="6205708" y="2953445"/>
            <a:ext cx="402674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600" dirty="0"/>
              <a:t>19</a:t>
            </a:r>
            <a:endParaRPr lang="en-US" sz="1600" dirty="0"/>
          </a:p>
          <a:p>
            <a:pPr algn="r"/>
            <a:r>
              <a:rPr lang="en-US" altLang="zh-CN" sz="1600" dirty="0"/>
              <a:t>20</a:t>
            </a:r>
            <a:endParaRPr lang="en-US" sz="1600" dirty="0"/>
          </a:p>
          <a:p>
            <a:pPr algn="r"/>
            <a:r>
              <a:rPr lang="en-US" altLang="zh-CN" sz="1600" dirty="0"/>
              <a:t>21</a:t>
            </a:r>
            <a:endParaRPr lang="en-US" sz="1600" dirty="0"/>
          </a:p>
          <a:p>
            <a:pPr algn="r"/>
            <a:r>
              <a:rPr lang="en-US" altLang="zh-CN" sz="1600" dirty="0"/>
              <a:t>22</a:t>
            </a:r>
            <a:endParaRPr lang="en-US" sz="1600" dirty="0"/>
          </a:p>
          <a:p>
            <a:pPr algn="r"/>
            <a:r>
              <a:rPr lang="en-US" altLang="zh-CN" sz="1600" dirty="0"/>
              <a:t>23</a:t>
            </a:r>
            <a:endParaRPr lang="en-US" sz="1600" dirty="0"/>
          </a:p>
          <a:p>
            <a:pPr algn="r"/>
            <a:r>
              <a:rPr lang="en-US" altLang="zh-CN" sz="1600" dirty="0"/>
              <a:t>24</a:t>
            </a:r>
          </a:p>
          <a:p>
            <a:pPr algn="r"/>
            <a:r>
              <a:rPr lang="en-US" altLang="zh-CN" sz="1600" dirty="0"/>
              <a:t>25</a:t>
            </a:r>
          </a:p>
          <a:p>
            <a:pPr algn="r"/>
            <a:r>
              <a:rPr lang="en-US" altLang="zh-CN" sz="1600" dirty="0"/>
              <a:t>26</a:t>
            </a:r>
            <a:endParaRPr lang="en-US" sz="16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35976DC-59CF-33BB-D1B0-D4F6092F619E}"/>
              </a:ext>
            </a:extLst>
          </p:cNvPr>
          <p:cNvSpPr/>
          <p:nvPr/>
        </p:nvSpPr>
        <p:spPr>
          <a:xfrm>
            <a:off x="6239478" y="4212737"/>
            <a:ext cx="5699011" cy="262698"/>
          </a:xfrm>
          <a:prstGeom prst="rect">
            <a:avLst/>
          </a:prstGeom>
          <a:solidFill>
            <a:schemeClr val="accent1">
              <a:alpha val="806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97D3611-9FFC-765C-F306-5798D0F735A3}"/>
              </a:ext>
            </a:extLst>
          </p:cNvPr>
          <p:cNvGrpSpPr/>
          <p:nvPr/>
        </p:nvGrpSpPr>
        <p:grpSpPr>
          <a:xfrm>
            <a:off x="5977940" y="138794"/>
            <a:ext cx="5819121" cy="1403762"/>
            <a:chOff x="5793470" y="1783200"/>
            <a:chExt cx="5819121" cy="1403762"/>
          </a:xfrm>
        </p:grpSpPr>
        <p:sp>
          <p:nvSpPr>
            <p:cNvPr id="52" name="Pentagon 51">
              <a:extLst>
                <a:ext uri="{FF2B5EF4-FFF2-40B4-BE49-F238E27FC236}">
                  <a16:creationId xmlns:a16="http://schemas.microsoft.com/office/drawing/2014/main" id="{E80D25B1-758B-F7BA-0B4D-1787CB3D65CB}"/>
                </a:ext>
              </a:extLst>
            </p:cNvPr>
            <p:cNvSpPr/>
            <p:nvPr/>
          </p:nvSpPr>
          <p:spPr>
            <a:xfrm>
              <a:off x="5793470" y="1783200"/>
              <a:ext cx="1060587" cy="426593"/>
            </a:xfrm>
            <a:prstGeom prst="homePlat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Line 24</a:t>
              </a:r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1AA425B9-8E23-9B13-12B3-249B882CC8FB}"/>
                </a:ext>
              </a:extLst>
            </p:cNvPr>
            <p:cNvGrpSpPr/>
            <p:nvPr/>
          </p:nvGrpSpPr>
          <p:grpSpPr>
            <a:xfrm>
              <a:off x="6323763" y="2228993"/>
              <a:ext cx="5288828" cy="957969"/>
              <a:chOff x="6323763" y="2228993"/>
              <a:chExt cx="5288828" cy="957969"/>
            </a:xfrm>
          </p:grpSpPr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1D10BD94-0EE9-BD4D-A569-DB35AE7A75B0}"/>
                  </a:ext>
                </a:extLst>
              </p:cNvPr>
              <p:cNvGrpSpPr/>
              <p:nvPr/>
            </p:nvGrpSpPr>
            <p:grpSpPr>
              <a:xfrm>
                <a:off x="6917900" y="2796497"/>
                <a:ext cx="4694691" cy="369332"/>
                <a:chOff x="6854057" y="2309096"/>
                <a:chExt cx="4694691" cy="369332"/>
              </a:xfrm>
            </p:grpSpPr>
            <p:grpSp>
              <p:nvGrpSpPr>
                <p:cNvPr id="64" name="Group 63">
                  <a:extLst>
                    <a:ext uri="{FF2B5EF4-FFF2-40B4-BE49-F238E27FC236}">
                      <a16:creationId xmlns:a16="http://schemas.microsoft.com/office/drawing/2014/main" id="{77F04438-E634-21BC-F534-A4B8E315EE14}"/>
                    </a:ext>
                  </a:extLst>
                </p:cNvPr>
                <p:cNvGrpSpPr/>
                <p:nvPr/>
              </p:nvGrpSpPr>
              <p:grpSpPr>
                <a:xfrm>
                  <a:off x="6854057" y="2309096"/>
                  <a:ext cx="3513085" cy="369332"/>
                  <a:chOff x="6968358" y="1662978"/>
                  <a:chExt cx="3513085" cy="369332"/>
                </a:xfrm>
              </p:grpSpPr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39C6C6B4-B2FC-9262-56A8-5426774432DB}"/>
                      </a:ext>
                    </a:extLst>
                  </p:cNvPr>
                  <p:cNvSpPr txBox="1"/>
                  <p:nvPr/>
                </p:nvSpPr>
                <p:spPr>
                  <a:xfrm>
                    <a:off x="6968358" y="1662978"/>
                    <a:ext cx="872359" cy="369332"/>
                  </a:xfrm>
                  <a:prstGeom prst="rect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wrap="square" rtlCol="0" anchor="ctr" anchorCtr="1">
                    <a:spAutoFit/>
                  </a:bodyPr>
                  <a:lstStyle/>
                  <a:p>
                    <a:r>
                      <a:rPr lang="en-US" altLang="zh-CN"/>
                      <a:t>4</a:t>
                    </a:r>
                    <a:r>
                      <a:rPr lang="zh-CN" altLang="en-US"/>
                      <a:t>*</a:t>
                    </a:r>
                    <a:r>
                      <a:rPr lang="en-US" err="1">
                        <a:solidFill>
                          <a:srgbClr val="C00000"/>
                        </a:solidFill>
                        <a:latin typeface="Menlo" panose="020B0609030804020204" pitchFamily="49" charset="0"/>
                      </a:rPr>
                      <a:t>len</a:t>
                    </a:r>
                    <a:endParaRPr lang="en-US"/>
                  </a:p>
                </p:txBody>
              </p:sp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17ED7197-FF66-C5EA-FC88-B97A3C6C16D8}"/>
                      </a:ext>
                    </a:extLst>
                  </p:cNvPr>
                  <p:cNvSpPr txBox="1"/>
                  <p:nvPr/>
                </p:nvSpPr>
                <p:spPr>
                  <a:xfrm>
                    <a:off x="7840716" y="1662978"/>
                    <a:ext cx="872359" cy="369332"/>
                  </a:xfrm>
                  <a:prstGeom prst="rect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wrap="square" rtlCol="0" anchor="ctr" anchorCtr="1">
                    <a:spAutoFit/>
                  </a:bodyPr>
                  <a:lstStyle/>
                  <a:p>
                    <a:r>
                      <a:rPr lang="en-US" err="1">
                        <a:solidFill>
                          <a:srgbClr val="C00000"/>
                        </a:solidFill>
                        <a:latin typeface="Menlo" panose="020B0609030804020204" pitchFamily="49" charset="0"/>
                      </a:rPr>
                      <a:t>len</a:t>
                    </a:r>
                    <a:endParaRPr lang="en-US"/>
                  </a:p>
                </p:txBody>
              </p:sp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15ABA001-0334-24E6-0A0F-50BDED20B9B3}"/>
                      </a:ext>
                    </a:extLst>
                  </p:cNvPr>
                  <p:cNvSpPr txBox="1"/>
                  <p:nvPr/>
                </p:nvSpPr>
                <p:spPr>
                  <a:xfrm>
                    <a:off x="8724900" y="1662978"/>
                    <a:ext cx="872359" cy="369332"/>
                  </a:xfrm>
                  <a:prstGeom prst="rect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wrap="square" rtlCol="0" anchor="ctr" anchorCtr="1">
                    <a:spAutoFit/>
                  </a:bodyPr>
                  <a:lstStyle/>
                  <a:p>
                    <a:r>
                      <a:rPr lang="en-US" altLang="zh-CN"/>
                      <a:t>4</a:t>
                    </a:r>
                    <a:endParaRPr lang="en-US"/>
                  </a:p>
                </p:txBody>
              </p:sp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id="{628B0FF3-04D1-DA9B-AB69-512615C0BCA7}"/>
                      </a:ext>
                    </a:extLst>
                  </p:cNvPr>
                  <p:cNvSpPr txBox="1"/>
                  <p:nvPr/>
                </p:nvSpPr>
                <p:spPr>
                  <a:xfrm>
                    <a:off x="9609084" y="1662978"/>
                    <a:ext cx="872359" cy="369332"/>
                  </a:xfrm>
                  <a:prstGeom prst="rect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wrap="square" rtlCol="0" anchor="ctr" anchorCtr="1">
                    <a:spAutoFit/>
                  </a:bodyPr>
                  <a:lstStyle/>
                  <a:p>
                    <a:r>
                      <a:rPr lang="en-US" altLang="zh-CN"/>
                      <a:t>0x100</a:t>
                    </a:r>
                    <a:endParaRPr lang="en-US"/>
                  </a:p>
                </p:txBody>
              </p:sp>
            </p:grpSp>
            <p:cxnSp>
              <p:nvCxnSpPr>
                <p:cNvPr id="65" name="直线箭头连接符 8">
                  <a:extLst>
                    <a:ext uri="{FF2B5EF4-FFF2-40B4-BE49-F238E27FC236}">
                      <a16:creationId xmlns:a16="http://schemas.microsoft.com/office/drawing/2014/main" id="{3F29C241-8FAD-86F7-091B-6314A95A2E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376238" y="2508032"/>
                  <a:ext cx="260673" cy="0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106EE862-CE21-FAF4-8642-0D75A5D6736F}"/>
                    </a:ext>
                  </a:extLst>
                </p:cNvPr>
                <p:cNvSpPr txBox="1"/>
                <p:nvPr/>
              </p:nvSpPr>
              <p:spPr>
                <a:xfrm>
                  <a:off x="10676389" y="2309096"/>
                  <a:ext cx="872359" cy="369332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 anchor="ctr" anchorCtr="1">
                  <a:spAutoFit/>
                </a:bodyPr>
                <a:lstStyle/>
                <a:p>
                  <a:r>
                    <a:rPr lang="en-US" altLang="zh-CN"/>
                    <a:t>…</a:t>
                  </a:r>
                  <a:endParaRPr lang="en-US"/>
                </a:p>
              </p:txBody>
            </p:sp>
          </p:grp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970CDC5-8A2A-506C-FCAD-07F92F673C98}"/>
                  </a:ext>
                </a:extLst>
              </p:cNvPr>
              <p:cNvSpPr txBox="1"/>
              <p:nvPr/>
            </p:nvSpPr>
            <p:spPr>
              <a:xfrm>
                <a:off x="6323763" y="2803903"/>
                <a:ext cx="317832" cy="383059"/>
              </a:xfrm>
              <a:prstGeom prst="rect">
                <a:avLst/>
              </a:prstGeom>
              <a:noFill/>
            </p:spPr>
            <p:txBody>
              <a:bodyPr wrap="square" rtlCol="0" anchor="ctr" anchorCtr="1">
                <a:spAutoFit/>
              </a:bodyPr>
              <a:lstStyle/>
              <a:p>
                <a:r>
                  <a:rPr lang="en-US" altLang="zh-CN"/>
                  <a:t>l:</a:t>
                </a:r>
                <a:endParaRPr lang="en-US"/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59BCDC7B-A9A0-F80A-D9B7-C3C9B346642A}"/>
                  </a:ext>
                </a:extLst>
              </p:cNvPr>
              <p:cNvGrpSpPr/>
              <p:nvPr/>
            </p:nvGrpSpPr>
            <p:grpSpPr>
              <a:xfrm>
                <a:off x="6907603" y="2228993"/>
                <a:ext cx="4694691" cy="369332"/>
                <a:chOff x="6854057" y="2309096"/>
                <a:chExt cx="4694691" cy="369332"/>
              </a:xfrm>
            </p:grpSpPr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258B4E6C-8517-783F-38EB-375E58550A55}"/>
                    </a:ext>
                  </a:extLst>
                </p:cNvPr>
                <p:cNvGrpSpPr/>
                <p:nvPr/>
              </p:nvGrpSpPr>
              <p:grpSpPr>
                <a:xfrm>
                  <a:off x="6854057" y="2309096"/>
                  <a:ext cx="3513085" cy="369332"/>
                  <a:chOff x="6968358" y="1662978"/>
                  <a:chExt cx="3513085" cy="369332"/>
                </a:xfrm>
              </p:grpSpPr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DE7C2026-5E5B-E8D8-5315-D0E89D2AF296}"/>
                      </a:ext>
                    </a:extLst>
                  </p:cNvPr>
                  <p:cNvSpPr txBox="1"/>
                  <p:nvPr/>
                </p:nvSpPr>
                <p:spPr>
                  <a:xfrm>
                    <a:off x="6968358" y="1662978"/>
                    <a:ext cx="872359" cy="369332"/>
                  </a:xfrm>
                  <a:prstGeom prst="rect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wrap="square" rtlCol="0" anchor="ctr" anchorCtr="1">
                    <a:spAutoFit/>
                  </a:bodyPr>
                  <a:lstStyle/>
                  <a:p>
                    <a:r>
                      <a:rPr lang="en-US"/>
                      <a:t>size</a:t>
                    </a:r>
                  </a:p>
                </p:txBody>
              </p:sp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16284820-6E1C-D1A0-089E-8C83548D3BCE}"/>
                      </a:ext>
                    </a:extLst>
                  </p:cNvPr>
                  <p:cNvSpPr txBox="1"/>
                  <p:nvPr/>
                </p:nvSpPr>
                <p:spPr>
                  <a:xfrm>
                    <a:off x="7840716" y="1662978"/>
                    <a:ext cx="872359" cy="369332"/>
                  </a:xfrm>
                  <a:prstGeom prst="rect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wrap="square" rtlCol="0" anchor="ctr" anchorCtr="1">
                    <a:spAutoFit/>
                  </a:bodyPr>
                  <a:lstStyle/>
                  <a:p>
                    <a:r>
                      <a:rPr lang="en-US" err="1"/>
                      <a:t>len</a:t>
                    </a:r>
                    <a:endParaRPr lang="en-US"/>
                  </a:p>
                </p:txBody>
              </p:sp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50DF0D6D-F4D7-334C-0C58-8E0FF0912224}"/>
                      </a:ext>
                    </a:extLst>
                  </p:cNvPr>
                  <p:cNvSpPr txBox="1"/>
                  <p:nvPr/>
                </p:nvSpPr>
                <p:spPr>
                  <a:xfrm>
                    <a:off x="8724900" y="1662978"/>
                    <a:ext cx="872359" cy="369332"/>
                  </a:xfrm>
                  <a:prstGeom prst="rect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wrap="square" rtlCol="0" anchor="ctr" anchorCtr="1">
                    <a:spAutoFit/>
                  </a:bodyPr>
                  <a:lstStyle/>
                  <a:p>
                    <a:r>
                      <a:rPr lang="en-US" err="1"/>
                      <a:t>isz</a:t>
                    </a:r>
                    <a:endParaRPr lang="en-US"/>
                  </a:p>
                </p:txBody>
              </p:sp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3D9E71A0-A1DE-BAD8-F1C7-29A8A4FEDF9B}"/>
                      </a:ext>
                    </a:extLst>
                  </p:cNvPr>
                  <p:cNvSpPr txBox="1"/>
                  <p:nvPr/>
                </p:nvSpPr>
                <p:spPr>
                  <a:xfrm>
                    <a:off x="9609084" y="1662978"/>
                    <a:ext cx="872359" cy="369332"/>
                  </a:xfrm>
                  <a:prstGeom prst="rect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wrap="square" rtlCol="0" anchor="ctr" anchorCtr="1">
                    <a:spAutoFit/>
                  </a:bodyPr>
                  <a:lstStyle/>
                  <a:p>
                    <a:r>
                      <a:rPr lang="en-US"/>
                      <a:t>data</a:t>
                    </a:r>
                  </a:p>
                </p:txBody>
              </p:sp>
            </p:grpSp>
            <p:cxnSp>
              <p:nvCxnSpPr>
                <p:cNvPr id="58" name="直线箭头连接符 8">
                  <a:extLst>
                    <a:ext uri="{FF2B5EF4-FFF2-40B4-BE49-F238E27FC236}">
                      <a16:creationId xmlns:a16="http://schemas.microsoft.com/office/drawing/2014/main" id="{BAA0AE52-E277-0312-EDE8-96A4EE6773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376238" y="2508032"/>
                  <a:ext cx="260673" cy="0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5EA75E03-908B-570C-00C9-323A9931BF7B}"/>
                    </a:ext>
                  </a:extLst>
                </p:cNvPr>
                <p:cNvSpPr txBox="1"/>
                <p:nvPr/>
              </p:nvSpPr>
              <p:spPr>
                <a:xfrm>
                  <a:off x="10676389" y="2309096"/>
                  <a:ext cx="872359" cy="369332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 anchor="ctr" anchorCtr="1">
                  <a:spAutoFit/>
                </a:bodyPr>
                <a:lstStyle/>
                <a:p>
                  <a:r>
                    <a:rPr lang="en-US"/>
                    <a:t>arr</a:t>
                  </a:r>
                  <a:r>
                    <a:rPr lang="en-US" altLang="zh-CN"/>
                    <a:t>ay</a:t>
                  </a:r>
                  <a:endParaRPr lang="en-US"/>
                </a:p>
              </p:txBody>
            </p:sp>
          </p:grp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36740E6-C726-3754-C753-6171645615CC}"/>
              </a:ext>
            </a:extLst>
          </p:cNvPr>
          <p:cNvGrpSpPr/>
          <p:nvPr/>
        </p:nvGrpSpPr>
        <p:grpSpPr>
          <a:xfrm>
            <a:off x="8467193" y="1834753"/>
            <a:ext cx="1059792" cy="610289"/>
            <a:chOff x="3554605" y="2378748"/>
            <a:chExt cx="1059792" cy="61028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5BF7DA0-207C-EBB4-B969-8E4992EE96A6}"/>
                </a:ext>
              </a:extLst>
            </p:cNvPr>
            <p:cNvSpPr txBox="1"/>
            <p:nvPr/>
          </p:nvSpPr>
          <p:spPr>
            <a:xfrm>
              <a:off x="3742038" y="2378748"/>
              <a:ext cx="8723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Prove?</a:t>
              </a:r>
            </a:p>
          </p:txBody>
        </p:sp>
        <p:sp>
          <p:nvSpPr>
            <p:cNvPr id="11" name="Right Arrow 10">
              <a:extLst>
                <a:ext uri="{FF2B5EF4-FFF2-40B4-BE49-F238E27FC236}">
                  <a16:creationId xmlns:a16="http://schemas.microsoft.com/office/drawing/2014/main" id="{133D231C-DB34-C7E1-C58B-A4E0DE744EB9}"/>
                </a:ext>
              </a:extLst>
            </p:cNvPr>
            <p:cNvSpPr/>
            <p:nvPr/>
          </p:nvSpPr>
          <p:spPr>
            <a:xfrm flipH="1">
              <a:off x="3554605" y="2624079"/>
              <a:ext cx="982067" cy="364958"/>
            </a:xfrm>
            <a:prstGeom prst="rightArrow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72704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" dur="indefinite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6" dur="indefinite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9" dur="indefinite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indefinite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2" dur="indefinite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indefinite"/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5" dur="indefinite"/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indefinite"/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8" dur="indefinite"/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/>
                                        <p:tgtEl>
                                          <p:spTgt spid="1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1" dur="indefinite"/>
                                        <p:tgtEl>
                                          <p:spTgt spid="1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indefinite"/>
                                        <p:tgtEl>
                                          <p:spTgt spid="1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4" dur="indefinite"/>
                                        <p:tgtEl>
                                          <p:spTgt spid="1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3" dur="indefinite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indefinite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6" dur="indefinite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9" dur="indefinite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indefinit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52" dur="indefinit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indefinite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55" dur="indefinite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indefinite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58" dur="indefinite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indefinite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61" dur="indefinite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indefinite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64" dur="indefinite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indefinite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67" dur="indefinite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indefinite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0" dur="indefinite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indefinite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3" dur="indefinite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indefinite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6" dur="indefinite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indefinite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9" dur="indefinite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indefinite"/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82" dur="indefinite"/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indefinite"/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85" dur="indefinite"/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indefinite"/>
                                        <p:tgtEl>
                                          <p:spTgt spid="1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88" dur="indefinite"/>
                                        <p:tgtEl>
                                          <p:spTgt spid="1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indefinite"/>
                                        <p:tgtEl>
                                          <p:spTgt spid="1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91" dur="indefinite"/>
                                        <p:tgtEl>
                                          <p:spTgt spid="1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indefinite"/>
                                        <p:tgtEl>
                                          <p:spTgt spid="1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94" dur="indefinite"/>
                                        <p:tgtEl>
                                          <p:spTgt spid="1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indefinite"/>
                                        <p:tgtEl>
                                          <p:spTgt spid="1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97" dur="indefinite"/>
                                        <p:tgtEl>
                                          <p:spTgt spid="1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indefinite"/>
                                        <p:tgtEl>
                                          <p:spTgt spid="1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0" dur="indefinite"/>
                                        <p:tgtEl>
                                          <p:spTgt spid="1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indefinite"/>
                                        <p:tgtEl>
                                          <p:spTgt spid="1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3" dur="indefinite"/>
                                        <p:tgtEl>
                                          <p:spTgt spid="1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indefinite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6" dur="indefinite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indefinite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9" dur="indefinite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indefinite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12" dur="indefinite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indefinite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15" dur="indefinite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indefinite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18" dur="indefinite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indefinite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21" dur="indefinite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indefinite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24" dur="indefinite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indefinite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27" dur="indefinite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indefinite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0" dur="indefinite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indefinite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3" dur="indefinite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indefinite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6" dur="indefinite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indefinite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9" dur="indefinite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indefinite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42" dur="indefinite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indefinite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45" dur="indefinite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indefinite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48" dur="indefinite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indefinite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51" dur="indefinite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indefinite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54" dur="indefinite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indefinite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57" dur="indefinite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indefinite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60" dur="indefinite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indefinite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63" dur="indefinite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indefinite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66" dur="indefinite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  <p:bldP spid="5" grpId="0"/>
      <p:bldP spid="7" grpId="0" animBg="1"/>
      <p:bldP spid="14" grpId="0" build="allAtOnce"/>
      <p:bldP spid="15" grpId="0"/>
      <p:bldP spid="3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CE93D78-F355-07B5-EFB9-8C1312DECFFA}"/>
              </a:ext>
            </a:extLst>
          </p:cNvPr>
          <p:cNvSpPr/>
          <p:nvPr/>
        </p:nvSpPr>
        <p:spPr>
          <a:xfrm>
            <a:off x="3132949" y="1402081"/>
            <a:ext cx="6465482" cy="229636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r"/>
            <a:r>
              <a:rPr lang="en-US" sz="3200" dirty="0">
                <a:solidFill>
                  <a:sysClr val="windowText" lastClr="000000"/>
                </a:solidFill>
              </a:rPr>
              <a:t>Tool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29071-B1F8-E21E-B647-9A6EFEFC6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Analysis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72D0D43-697B-F8D7-4F07-7121BDF73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72BF3-52D2-AC47-A795-455346AC0757}" type="slidenum">
              <a:rPr lang="en-US" smtClean="0"/>
              <a:t>5</a:t>
            </a:fld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A90D19-33C4-4B30-18F0-34F7A15579EC}"/>
              </a:ext>
            </a:extLst>
          </p:cNvPr>
          <p:cNvSpPr txBox="1"/>
          <p:nvPr/>
        </p:nvSpPr>
        <p:spPr>
          <a:xfrm>
            <a:off x="792480" y="2440238"/>
            <a:ext cx="1950181" cy="36933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 anchorCtr="1">
            <a:spAutoFit/>
          </a:bodyPr>
          <a:lstStyle/>
          <a:p>
            <a:pPr algn="ctr"/>
            <a:r>
              <a:rPr lang="en-US" dirty="0"/>
              <a:t>Program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4AC11BB-B2E8-8062-B0F5-2FD65C2006BE}"/>
              </a:ext>
            </a:extLst>
          </p:cNvPr>
          <p:cNvGrpSpPr/>
          <p:nvPr/>
        </p:nvGrpSpPr>
        <p:grpSpPr>
          <a:xfrm>
            <a:off x="3191585" y="1813059"/>
            <a:ext cx="3126259" cy="1615941"/>
            <a:chOff x="4174309" y="1447365"/>
            <a:chExt cx="3126259" cy="1615941"/>
          </a:xfrm>
        </p:grpSpPr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EEC7E9A2-0BA0-920B-9EEA-AE7183B8C86B}"/>
                </a:ext>
              </a:extLst>
            </p:cNvPr>
            <p:cNvSpPr/>
            <p:nvPr/>
          </p:nvSpPr>
          <p:spPr>
            <a:xfrm>
              <a:off x="4174309" y="1447365"/>
              <a:ext cx="3126259" cy="161594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/>
                <a:t>Abstract Interpreter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EA6C201-61F9-B24D-6FAC-4FE9B77AC89B}"/>
                </a:ext>
              </a:extLst>
            </p:cNvPr>
            <p:cNvSpPr/>
            <p:nvPr/>
          </p:nvSpPr>
          <p:spPr>
            <a:xfrm>
              <a:off x="4327393" y="1928121"/>
              <a:ext cx="2740671" cy="958677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altLang="zh-CN"/>
                <a:t>Abstract</a:t>
              </a:r>
              <a:r>
                <a:rPr lang="zh-CN" altLang="en-US"/>
                <a:t> </a:t>
              </a:r>
              <a:r>
                <a:rPr lang="en-US" altLang="zh-CN"/>
                <a:t>Domains:</a:t>
              </a:r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99CB69E-54AB-2488-076F-BE61928B598F}"/>
                </a:ext>
              </a:extLst>
            </p:cNvPr>
            <p:cNvSpPr txBox="1"/>
            <p:nvPr/>
          </p:nvSpPr>
          <p:spPr>
            <a:xfrm>
              <a:off x="4467809" y="2322228"/>
              <a:ext cx="806407" cy="369332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Heap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57F727B-0A20-B802-A4E6-872E4EDBDB82}"/>
                </a:ext>
              </a:extLst>
            </p:cNvPr>
            <p:cNvSpPr txBox="1"/>
            <p:nvPr/>
          </p:nvSpPr>
          <p:spPr>
            <a:xfrm>
              <a:off x="6077241" y="2322228"/>
              <a:ext cx="806407" cy="369332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Bool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6C1051B-0A95-984F-4C9D-09D45EF9C7AB}"/>
                </a:ext>
              </a:extLst>
            </p:cNvPr>
            <p:cNvSpPr txBox="1"/>
            <p:nvPr/>
          </p:nvSpPr>
          <p:spPr>
            <a:xfrm>
              <a:off x="5274216" y="2322228"/>
              <a:ext cx="806407" cy="369332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Num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4AAEE16E-BF13-D196-86DA-F617077B8B18}"/>
              </a:ext>
            </a:extLst>
          </p:cNvPr>
          <p:cNvSpPr txBox="1"/>
          <p:nvPr/>
        </p:nvSpPr>
        <p:spPr>
          <a:xfrm>
            <a:off x="6703949" y="2436363"/>
            <a:ext cx="1167021" cy="36933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Invariants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CF007FCB-BBE7-8058-37C1-D503366A3FF8}"/>
              </a:ext>
            </a:extLst>
          </p:cNvPr>
          <p:cNvSpPr/>
          <p:nvPr/>
        </p:nvSpPr>
        <p:spPr>
          <a:xfrm>
            <a:off x="8255908" y="2238020"/>
            <a:ext cx="1274591" cy="7972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/>
              <a:t>Verify</a:t>
            </a:r>
          </a:p>
          <a:p>
            <a:pPr algn="ctr"/>
            <a:r>
              <a:rPr lang="en-US"/>
              <a:t>Assertion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754397-F2A4-2192-C4EF-6EB238AD0EF1}"/>
              </a:ext>
            </a:extLst>
          </p:cNvPr>
          <p:cNvSpPr txBox="1"/>
          <p:nvPr/>
        </p:nvSpPr>
        <p:spPr>
          <a:xfrm>
            <a:off x="10061529" y="2293815"/>
            <a:ext cx="939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✅ pass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470D3E4-F836-FC3F-9BC0-4ED45C41813F}"/>
              </a:ext>
            </a:extLst>
          </p:cNvPr>
          <p:cNvSpPr txBox="1"/>
          <p:nvPr/>
        </p:nvSpPr>
        <p:spPr>
          <a:xfrm>
            <a:off x="10037357" y="2801808"/>
            <a:ext cx="1374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⚠️ unknown</a:t>
            </a:r>
          </a:p>
        </p:txBody>
      </p:sp>
      <p:sp>
        <p:nvSpPr>
          <p:cNvPr id="3" name="Cloud Callout 2">
            <a:extLst>
              <a:ext uri="{FF2B5EF4-FFF2-40B4-BE49-F238E27FC236}">
                <a16:creationId xmlns:a16="http://schemas.microsoft.com/office/drawing/2014/main" id="{B9BA8E8B-9EE7-23B8-1143-54EADCF6B5D7}"/>
              </a:ext>
            </a:extLst>
          </p:cNvPr>
          <p:cNvSpPr/>
          <p:nvPr/>
        </p:nvSpPr>
        <p:spPr>
          <a:xfrm>
            <a:off x="3187744" y="5115612"/>
            <a:ext cx="4230230" cy="1351451"/>
          </a:xfrm>
          <a:prstGeom prst="cloudCallout">
            <a:avLst>
              <a:gd name="adj1" fmla="val 15387"/>
              <a:gd name="adj2" fmla="val -68555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Which </a:t>
            </a:r>
            <a:r>
              <a:rPr lang="en-US" b="1" dirty="0">
                <a:solidFill>
                  <a:schemeClr val="tx1"/>
                </a:solidFill>
              </a:rPr>
              <a:t>numerical domain </a:t>
            </a:r>
            <a:r>
              <a:rPr lang="en-US" dirty="0">
                <a:solidFill>
                  <a:schemeClr val="tx1"/>
                </a:solidFill>
              </a:rPr>
              <a:t>can represent this set of constraints?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44E50D19-F0F9-52C1-910A-D0B521E6C3C6}"/>
              </a:ext>
            </a:extLst>
          </p:cNvPr>
          <p:cNvSpPr/>
          <p:nvPr/>
        </p:nvSpPr>
        <p:spPr>
          <a:xfrm>
            <a:off x="2817229" y="2572999"/>
            <a:ext cx="270000" cy="127306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C950D2AA-5B97-16B7-3F1E-BE3DFFA52A91}"/>
              </a:ext>
            </a:extLst>
          </p:cNvPr>
          <p:cNvSpPr/>
          <p:nvPr/>
        </p:nvSpPr>
        <p:spPr>
          <a:xfrm>
            <a:off x="6376480" y="2572999"/>
            <a:ext cx="270000" cy="127306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EBBA1847-D3F6-2AC4-F1BD-CD0AE8ECE01C}"/>
              </a:ext>
            </a:extLst>
          </p:cNvPr>
          <p:cNvSpPr/>
          <p:nvPr/>
        </p:nvSpPr>
        <p:spPr>
          <a:xfrm>
            <a:off x="7928439" y="2572999"/>
            <a:ext cx="270000" cy="127306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6A1EC44E-3FC7-498A-7AB9-C8522EA0FDBD}"/>
              </a:ext>
            </a:extLst>
          </p:cNvPr>
          <p:cNvSpPr/>
          <p:nvPr/>
        </p:nvSpPr>
        <p:spPr>
          <a:xfrm rot="953359">
            <a:off x="9732620" y="2810244"/>
            <a:ext cx="270000" cy="127306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3048F480-A3EA-305B-4D2F-AAD5CE9CB1FB}"/>
              </a:ext>
            </a:extLst>
          </p:cNvPr>
          <p:cNvSpPr/>
          <p:nvPr/>
        </p:nvSpPr>
        <p:spPr>
          <a:xfrm rot="20671831">
            <a:off x="9721974" y="2451505"/>
            <a:ext cx="270000" cy="127306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7077D4-6312-2921-12D2-6C3ED767F132}"/>
                  </a:ext>
                </a:extLst>
              </p:cNvPr>
              <p:cNvSpPr txBox="1"/>
              <p:nvPr/>
            </p:nvSpPr>
            <p:spPr>
              <a:xfrm>
                <a:off x="6003415" y="3912508"/>
                <a:ext cx="2195024" cy="92333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m:t>offset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𝑖𝑑𝑥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m:t>size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𝑙𝑒𝑛</m:t>
                      </m:r>
                    </m:oMath>
                    <m:oMath xmlns:m="http://schemas.openxmlformats.org/officeDocument/2006/math"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0≤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𝑖𝑑𝑥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𝑙𝑒𝑛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7077D4-6312-2921-12D2-6C3ED767F1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3415" y="3912508"/>
                <a:ext cx="2195024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Vertical Scroll 7">
            <a:extLst>
              <a:ext uri="{FF2B5EF4-FFF2-40B4-BE49-F238E27FC236}">
                <a16:creationId xmlns:a16="http://schemas.microsoft.com/office/drawing/2014/main" id="{D4214C11-F06A-45DD-1A92-4CCD7A84741F}"/>
              </a:ext>
            </a:extLst>
          </p:cNvPr>
          <p:cNvSpPr/>
          <p:nvPr/>
        </p:nvSpPr>
        <p:spPr>
          <a:xfrm>
            <a:off x="995225" y="3698448"/>
            <a:ext cx="1636129" cy="1351451"/>
          </a:xfrm>
          <a:prstGeom prst="verticalScroll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 Code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7A1BC8CD-D5F0-5DC4-AD49-065608768FF1}"/>
              </a:ext>
            </a:extLst>
          </p:cNvPr>
          <p:cNvSpPr/>
          <p:nvPr/>
        </p:nvSpPr>
        <p:spPr>
          <a:xfrm>
            <a:off x="3112545" y="4173156"/>
            <a:ext cx="2767975" cy="412377"/>
          </a:xfrm>
          <a:prstGeom prst="rightArrow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97689BA-28B7-CA77-36CC-544F92FC902F}"/>
                  </a:ext>
                </a:extLst>
              </p:cNvPr>
              <p:cNvSpPr txBox="1"/>
              <p:nvPr/>
            </p:nvSpPr>
            <p:spPr>
              <a:xfrm>
                <a:off x="8365166" y="4197010"/>
                <a:ext cx="2831609" cy="3693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m:t>offset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+4≤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m:t>size</m:t>
                      </m:r>
                    </m:oMath>
                  </m:oMathPara>
                </a14:m>
                <a:br>
                  <a:rPr lang="en-US" b="0" dirty="0"/>
                </a:br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97689BA-28B7-CA77-36CC-544F92FC90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5166" y="4197010"/>
                <a:ext cx="2831609" cy="369397"/>
              </a:xfrm>
              <a:prstGeom prst="rect">
                <a:avLst/>
              </a:prstGeom>
              <a:blipFill>
                <a:blip r:embed="rId4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loud Callout 4">
            <a:extLst>
              <a:ext uri="{FF2B5EF4-FFF2-40B4-BE49-F238E27FC236}">
                <a16:creationId xmlns:a16="http://schemas.microsoft.com/office/drawing/2014/main" id="{C24D0399-4533-E736-4235-B19B9B86E780}"/>
              </a:ext>
            </a:extLst>
          </p:cNvPr>
          <p:cNvSpPr/>
          <p:nvPr/>
        </p:nvSpPr>
        <p:spPr>
          <a:xfrm>
            <a:off x="7581453" y="5068884"/>
            <a:ext cx="4399033" cy="1351451"/>
          </a:xfrm>
          <a:prstGeom prst="cloudCallout">
            <a:avLst>
              <a:gd name="adj1" fmla="val -7513"/>
              <a:gd name="adj2" fmla="val -83463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How </a:t>
            </a:r>
            <a:r>
              <a:rPr lang="en-US" b="1" dirty="0">
                <a:solidFill>
                  <a:schemeClr val="tx1"/>
                </a:solidFill>
              </a:rPr>
              <a:t>numerical domain </a:t>
            </a:r>
            <a:r>
              <a:rPr lang="en-US" dirty="0">
                <a:solidFill>
                  <a:schemeClr val="tx1"/>
                </a:solidFill>
              </a:rPr>
              <a:t>can “discover” this implicit constraint?</a:t>
            </a:r>
          </a:p>
        </p:txBody>
      </p:sp>
    </p:spTree>
    <p:extLst>
      <p:ext uri="{BB962C8B-B14F-4D97-AF65-F5344CB8AC3E}">
        <p14:creationId xmlns:p14="http://schemas.microsoft.com/office/powerpoint/2010/main" val="317780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1C843-335C-A0F4-4BD9-2534643C1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Previous Work on Numerical Domains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5B06FF-9EFD-EA51-09DF-F099FFC27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72BF3-52D2-AC47-A795-455346AC0757}" type="slidenum">
              <a:rPr lang="en-US" smtClean="0"/>
              <a:pPr/>
              <a:t>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289D1A7-4BEF-CCF6-4FEB-EC6B8363C876}"/>
                  </a:ext>
                </a:extLst>
              </p:cNvPr>
              <p:cNvSpPr txBox="1"/>
              <p:nvPr/>
            </p:nvSpPr>
            <p:spPr>
              <a:xfrm>
                <a:off x="862716" y="3211594"/>
                <a:ext cx="4200587" cy="230832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Unit Two Variable Per Inequality  (UTVPI):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𝑖𝑑𝑥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≤0</m:t>
                      </m:r>
                    </m:oMath>
                  </m:oMathPara>
                </a14:m>
                <a:endParaRPr lang="en-US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𝑖𝑑𝑥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𝑙𝑒𝑛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≤−1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Two Variable Per Inequality (TVPI):</a:t>
                </a:r>
                <a:endParaRPr lang="en-CA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m:t>offset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4∗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𝑖𝑑𝑥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≤0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4∗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𝑖𝑑𝑥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m:t>offset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≤0</m:t>
                      </m:r>
                    </m:oMath>
                  </m:oMathPara>
                </a14:m>
                <a:endParaRPr lang="en-US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m:t>size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4∗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𝑙𝑒𝑛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≤0</m:t>
                      </m:r>
                    </m:oMath>
                  </m:oMathPara>
                </a14:m>
                <a:endParaRPr lang="en-US" b="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4∗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𝑙𝑒𝑛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m:t>size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≤0</m:t>
                      </m:r>
                    </m:oMath>
                  </m:oMathPara>
                </a14:m>
                <a:endParaRPr lang="en-US" b="0" i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289D1A7-4BEF-CCF6-4FEB-EC6B8363C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716" y="3211594"/>
                <a:ext cx="4200587" cy="2308324"/>
              </a:xfrm>
              <a:prstGeom prst="rect">
                <a:avLst/>
              </a:prstGeom>
              <a:blipFill>
                <a:blip r:embed="rId3"/>
                <a:stretch>
                  <a:fillRect l="-1511" t="-1093" b="-5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2D472EB2-638F-C606-9951-1046C0A1DB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51476988"/>
                  </p:ext>
                </p:extLst>
              </p:nvPr>
            </p:nvGraphicFramePr>
            <p:xfrm>
              <a:off x="5359865" y="2377599"/>
              <a:ext cx="6687973" cy="329184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584632">
                      <a:extLst>
                        <a:ext uri="{9D8B030D-6E8A-4147-A177-3AD203B41FA5}">
                          <a16:colId xmlns:a16="http://schemas.microsoft.com/office/drawing/2014/main" val="275949586"/>
                        </a:ext>
                      </a:extLst>
                    </a:gridCol>
                    <a:gridCol w="1717589">
                      <a:extLst>
                        <a:ext uri="{9D8B030D-6E8A-4147-A177-3AD203B41FA5}">
                          <a16:colId xmlns:a16="http://schemas.microsoft.com/office/drawing/2014/main" val="1104631040"/>
                        </a:ext>
                      </a:extLst>
                    </a:gridCol>
                    <a:gridCol w="1396314">
                      <a:extLst>
                        <a:ext uri="{9D8B030D-6E8A-4147-A177-3AD203B41FA5}">
                          <a16:colId xmlns:a16="http://schemas.microsoft.com/office/drawing/2014/main" val="460188240"/>
                        </a:ext>
                      </a:extLst>
                    </a:gridCol>
                    <a:gridCol w="1989438">
                      <a:extLst>
                        <a:ext uri="{9D8B030D-6E8A-4147-A177-3AD203B41FA5}">
                          <a16:colId xmlns:a16="http://schemas.microsoft.com/office/drawing/2014/main" val="210543778"/>
                        </a:ext>
                      </a:extLst>
                    </a:gridCol>
                  </a:tblGrid>
                  <a:tr h="3589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Domain name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Representable Constraints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dirty="0"/>
                            <a:t>Expressible</a:t>
                          </a:r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Cost </a:t>
                          </a:r>
                        </a:p>
                        <a:p>
                          <a:pPr algn="ctr"/>
                          <a:r>
                            <a:rPr lang="en-US" dirty="0"/>
                            <a:t>and Expressiveness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438306520"/>
                      </a:ext>
                    </a:extLst>
                  </a:tr>
                  <a:tr h="20509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Intervals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❌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rowSpan="5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30916091"/>
                      </a:ext>
                    </a:extLst>
                  </a:tr>
                  <a:tr h="20509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UTVPI (Zones)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❌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09823619"/>
                      </a:ext>
                    </a:extLst>
                  </a:tr>
                  <a:tr h="20509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UTVPI (Octagons)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/>
                            <a:t>❌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8320322"/>
                      </a:ext>
                    </a:extLst>
                  </a:tr>
                  <a:tr h="3589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TVPI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𝑎𝑥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𝑏𝑦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/>
                            <a:t>✅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56986370"/>
                      </a:ext>
                    </a:extLst>
                  </a:tr>
                  <a:tr h="2828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Convex </a:t>
                          </a:r>
                          <a:r>
                            <a:rPr lang="en-US" dirty="0" err="1"/>
                            <a:t>Polyhedra</a:t>
                          </a:r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✅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0339523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2D472EB2-638F-C606-9951-1046C0A1DB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51476988"/>
                  </p:ext>
                </p:extLst>
              </p:nvPr>
            </p:nvGraphicFramePr>
            <p:xfrm>
              <a:off x="5359865" y="2377599"/>
              <a:ext cx="6687973" cy="329184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584632">
                      <a:extLst>
                        <a:ext uri="{9D8B030D-6E8A-4147-A177-3AD203B41FA5}">
                          <a16:colId xmlns:a16="http://schemas.microsoft.com/office/drawing/2014/main" val="275949586"/>
                        </a:ext>
                      </a:extLst>
                    </a:gridCol>
                    <a:gridCol w="1717589">
                      <a:extLst>
                        <a:ext uri="{9D8B030D-6E8A-4147-A177-3AD203B41FA5}">
                          <a16:colId xmlns:a16="http://schemas.microsoft.com/office/drawing/2014/main" val="1104631040"/>
                        </a:ext>
                      </a:extLst>
                    </a:gridCol>
                    <a:gridCol w="1396314">
                      <a:extLst>
                        <a:ext uri="{9D8B030D-6E8A-4147-A177-3AD203B41FA5}">
                          <a16:colId xmlns:a16="http://schemas.microsoft.com/office/drawing/2014/main" val="460188240"/>
                        </a:ext>
                      </a:extLst>
                    </a:gridCol>
                    <a:gridCol w="1989438">
                      <a:extLst>
                        <a:ext uri="{9D8B030D-6E8A-4147-A177-3AD203B41FA5}">
                          <a16:colId xmlns:a16="http://schemas.microsoft.com/office/drawing/2014/main" val="210543778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Domain name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Representable Constraints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dirty="0"/>
                            <a:t>Expressible</a:t>
                          </a:r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Cost </a:t>
                          </a:r>
                        </a:p>
                        <a:p>
                          <a:pPr algn="ctr"/>
                          <a:r>
                            <a:rPr lang="en-US" dirty="0"/>
                            <a:t>and Expressiveness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43830652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Intervals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93333" t="-255172" r="-197778" b="-5758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❌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rowSpan="5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3091609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UTVPI (Zones)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93333" t="-355172" r="-197778" b="-4758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❌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09823619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UTVPI (Octagons)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93333" t="-258824" r="-197778" b="-1705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/>
                            <a:t>❌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832032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TVPI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93333" t="-653571" r="-197778" b="-210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/>
                            <a:t>✅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5698637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Convex </a:t>
                          </a:r>
                          <a:r>
                            <a:rPr lang="en-US" dirty="0" err="1"/>
                            <a:t>Polyhedra</a:t>
                          </a:r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93333" t="-413725" r="-197778" b="-156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✅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0339523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5A9E216-DB38-DFE1-5E2F-078F8CA6CF2A}"/>
                  </a:ext>
                </a:extLst>
              </p:cNvPr>
              <p:cNvSpPr txBox="1"/>
              <p:nvPr/>
            </p:nvSpPr>
            <p:spPr>
              <a:xfrm>
                <a:off x="1919048" y="1690688"/>
                <a:ext cx="2195024" cy="92333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m:t>offset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𝑖𝑑𝑥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m:t>size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𝑙𝑒𝑛</m:t>
                      </m:r>
                    </m:oMath>
                    <m:oMath xmlns:m="http://schemas.openxmlformats.org/officeDocument/2006/math"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0≤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𝑖𝑑𝑥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𝑙𝑒𝑛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5A9E216-DB38-DFE1-5E2F-078F8CA6CF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9048" y="1690688"/>
                <a:ext cx="2195024" cy="9233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Down Arrow 8">
            <a:extLst>
              <a:ext uri="{FF2B5EF4-FFF2-40B4-BE49-F238E27FC236}">
                <a16:creationId xmlns:a16="http://schemas.microsoft.com/office/drawing/2014/main" id="{C24AAEBF-98EA-DB8F-EAA1-69903C864B95}"/>
              </a:ext>
            </a:extLst>
          </p:cNvPr>
          <p:cNvSpPr/>
          <p:nvPr/>
        </p:nvSpPr>
        <p:spPr>
          <a:xfrm>
            <a:off x="10736159" y="3317789"/>
            <a:ext cx="593125" cy="2351650"/>
          </a:xfrm>
          <a:prstGeom prst="downArrow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22988135-6D24-D65B-BBFA-75C6FB17C609}"/>
              </a:ext>
            </a:extLst>
          </p:cNvPr>
          <p:cNvSpPr/>
          <p:nvPr/>
        </p:nvSpPr>
        <p:spPr>
          <a:xfrm rot="5400000">
            <a:off x="2839545" y="2730327"/>
            <a:ext cx="354030" cy="364958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47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EF956-F47F-27E9-9D60-3815C890F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B86723-4B0B-75FB-FFBE-C7AFD41719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Express TVPI constraint as UTVPI constraint</a:t>
                </a:r>
              </a:p>
              <a:p>
                <a:pPr marL="0" indent="0">
                  <a:buNone/>
                </a:pPr>
                <a:r>
                  <a:rPr lang="en-US" dirty="0"/>
                  <a:t>Zones alone cannot express TVPI constraints</a:t>
                </a:r>
              </a:p>
              <a:p>
                <a:pPr lvl="1"/>
                <a:r>
                  <a:rPr lang="en-US" dirty="0"/>
                  <a:t>E.g.,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en-US" dirty="0">
                        <a:latin typeface="Consolas" panose="020B0609020204030204" pitchFamily="49" charset="0"/>
                        <a:cs typeface="Consolas" panose="020B0609020204030204" pitchFamily="49" charset="0"/>
                      </a:rPr>
                      <m:t>offset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−4∗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𝑖𝑑𝑥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en-US" dirty="0"/>
                  <a:t>, how to represent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4∗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𝑖𝑑𝑥</m:t>
                    </m:r>
                  </m:oMath>
                </a14:m>
                <a:r>
                  <a:rPr lang="en-US" dirty="0"/>
                  <a:t>?</a:t>
                </a:r>
              </a:p>
              <a:p>
                <a:pPr marL="0" indent="0">
                  <a:buNone/>
                </a:pPr>
                <a:r>
                  <a:rPr lang="en-US" dirty="0"/>
                  <a:t>Introduce a </a:t>
                </a:r>
                <a:r>
                  <a:rPr lang="en-US" dirty="0">
                    <a:solidFill>
                      <a:srgbClr val="FFA500"/>
                    </a:solidFill>
                  </a:rPr>
                  <a:t>ghost variable </a:t>
                </a:r>
                <a:r>
                  <a:rPr lang="en-US" dirty="0"/>
                  <a:t>represents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4∗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𝑖𝑑𝑥</m:t>
                    </m:r>
                  </m:oMath>
                </a14:m>
                <a:r>
                  <a:rPr lang="en-US" dirty="0"/>
                  <a:t> as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m:t>4</m:t>
                    </m:r>
                    <m:r>
                      <m:rPr>
                        <m:nor/>
                      </m:rPr>
                      <a: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m:t>idx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en-US" dirty="0">
                        <a:latin typeface="Consolas" panose="020B0609020204030204" pitchFamily="49" charset="0"/>
                        <a:cs typeface="Consolas" panose="020B0609020204030204" pitchFamily="49" charset="0"/>
                      </a:rPr>
                      <m:t>offset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−4∗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𝑖𝑑𝑥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en-US" dirty="0"/>
                  <a:t> as an UTVPI constraint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en-US" dirty="0">
                        <a:latin typeface="Consolas" panose="020B0609020204030204" pitchFamily="49" charset="0"/>
                        <a:cs typeface="Consolas" panose="020B0609020204030204" pitchFamily="49" charset="0"/>
                      </a:rPr>
                      <m:t>offset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m:t>4</m:t>
                    </m:r>
                    <m:r>
                      <m:rPr>
                        <m:nor/>
                      </m:rPr>
                      <a: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m:t>idx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Add ghosts only for variables with</a:t>
                </a:r>
                <a:r>
                  <a:rPr lang="en-US" dirty="0">
                    <a:solidFill>
                      <a:srgbClr val="FFA500"/>
                    </a:solidFill>
                  </a:rPr>
                  <a:t> fixed coefficients</a:t>
                </a:r>
              </a:p>
              <a:p>
                <a:pPr lvl="1"/>
                <a:r>
                  <a:rPr lang="en-US" dirty="0"/>
                  <a:t>In the example, coefficients for {1, 4} </a:t>
                </a:r>
                <a:r>
                  <a:rPr lang="en-CA" dirty="0"/>
                  <a:t>suffice  for </a:t>
                </a:r>
                <a:r>
                  <a:rPr lang="en-US" dirty="0"/>
                  <a:t>the bound checks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B86723-4B0B-75FB-FFBE-C7AFD41719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b="-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D4EF54-E157-5A5B-8935-195C0590A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72BF3-52D2-AC47-A795-455346AC0757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3D8EC26-B90B-0088-02A8-DEA42DE6CC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7166609"/>
              </p:ext>
            </p:extLst>
          </p:nvPr>
        </p:nvGraphicFramePr>
        <p:xfrm>
          <a:off x="3539068" y="1322186"/>
          <a:ext cx="4673599" cy="1463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34262">
                  <a:extLst>
                    <a:ext uri="{9D8B030D-6E8A-4147-A177-3AD203B41FA5}">
                      <a16:colId xmlns:a16="http://schemas.microsoft.com/office/drawing/2014/main" val="1108759712"/>
                    </a:ext>
                  </a:extLst>
                </a:gridCol>
                <a:gridCol w="2839337">
                  <a:extLst>
                    <a:ext uri="{9D8B030D-6E8A-4147-A177-3AD203B41FA5}">
                      <a16:colId xmlns:a16="http://schemas.microsoft.com/office/drawing/2014/main" val="778174506"/>
                    </a:ext>
                  </a:extLst>
                </a:gridCol>
              </a:tblGrid>
              <a:tr h="1886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Domain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Cost and Expressiveness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9009445"/>
                  </a:ext>
                </a:extLst>
              </a:tr>
              <a:tr h="1886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UTVPI (Zones)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4573450"/>
                  </a:ext>
                </a:extLst>
              </a:tr>
              <a:tr h="1886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A500"/>
                          </a:solidFill>
                        </a:rPr>
                        <a:t>Our 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9895221"/>
                  </a:ext>
                </a:extLst>
              </a:tr>
              <a:tr h="18864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TVPI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4702924"/>
                  </a:ext>
                </a:extLst>
              </a:tr>
            </a:tbl>
          </a:graphicData>
        </a:graphic>
      </p:graphicFrame>
      <p:sp>
        <p:nvSpPr>
          <p:cNvPr id="5" name="Down Arrow 4">
            <a:extLst>
              <a:ext uri="{FF2B5EF4-FFF2-40B4-BE49-F238E27FC236}">
                <a16:creationId xmlns:a16="http://schemas.microsoft.com/office/drawing/2014/main" id="{89A9DB8F-6E8A-6F49-5B1A-7139815E5723}"/>
              </a:ext>
            </a:extLst>
          </p:cNvPr>
          <p:cNvSpPr/>
          <p:nvPr/>
        </p:nvSpPr>
        <p:spPr>
          <a:xfrm>
            <a:off x="6428319" y="1723844"/>
            <a:ext cx="593125" cy="1006878"/>
          </a:xfrm>
          <a:prstGeom prst="downArrow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066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73512-8BD3-2982-6290-EBCB776A9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A35C5-DB6F-2DE0-DC8E-ECC3C8C8C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Road 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0A5AD-00E4-C80E-7563-5EF10DFA3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Motivation</a:t>
            </a:r>
          </a:p>
          <a:p>
            <a:pPr marL="0" indent="0">
              <a:buNone/>
            </a:pPr>
            <a:r>
              <a:rPr lang="en-US" dirty="0">
                <a:solidFill>
                  <a:srgbClr val="FFA500"/>
                </a:solidFill>
              </a:rPr>
              <a:t>Background</a:t>
            </a:r>
          </a:p>
          <a:p>
            <a:pPr lvl="1"/>
            <a:r>
              <a:rPr lang="en-US" dirty="0">
                <a:solidFill>
                  <a:srgbClr val="FFA500"/>
                </a:solidFill>
              </a:rPr>
              <a:t>Zones as a Difference Bound Matrix (DBM)</a:t>
            </a:r>
          </a:p>
          <a:p>
            <a:pPr marL="0" indent="0">
              <a:buNone/>
            </a:pPr>
            <a:r>
              <a:rPr lang="en-US" dirty="0"/>
              <a:t>Contributions</a:t>
            </a:r>
          </a:p>
          <a:p>
            <a:pPr lvl="1"/>
            <a:r>
              <a:rPr lang="en-US" dirty="0"/>
              <a:t>Extending DBM</a:t>
            </a:r>
          </a:p>
          <a:p>
            <a:pPr lvl="1"/>
            <a:r>
              <a:rPr lang="en-US" dirty="0"/>
              <a:t>A domain of TVPI constraints with templates</a:t>
            </a:r>
          </a:p>
          <a:p>
            <a:pPr lvl="1"/>
            <a:r>
              <a:rPr lang="en-US" dirty="0"/>
              <a:t>Implementation and Experiments</a:t>
            </a:r>
          </a:p>
          <a:p>
            <a:pPr marL="0" indent="0">
              <a:buNone/>
            </a:pPr>
            <a:r>
              <a:rPr lang="en-US" dirty="0"/>
              <a:t>Conclusion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16DAC-2234-905A-C22C-03123271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72BF3-52D2-AC47-A795-455346AC075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251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776F2-E13A-E083-A5F6-DD8BF516B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 Bound Matrix (DBM)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B87CB2-56E5-F5E9-83CD-E7A1F0A9CA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Matrice representation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Variable set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𝒱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,…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∪{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dirty="0"/>
                  <a:t> for a constant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. E.g.,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𝑖𝑑𝑥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en-US" dirty="0"/>
                  <a:t>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𝑖𝑑𝑥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Some constant number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∪{+∞}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could be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ℚ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/>
                  <a:t> (we focus 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r>
                  <a:rPr lang="en-US" dirty="0"/>
                  <a:t>DBM for Zones represents a set of UTVPI constraints: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B87CB2-56E5-F5E9-83CD-E7A1F0A9CA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3198" b="-8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E01EB-6A0D-2F49-2831-30A09E6F6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72BF3-52D2-AC47-A795-455346AC0757}" type="slidenum">
              <a:rPr lang="en-US" smtClean="0"/>
              <a:t>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901A342-DEAB-B728-D409-1388311E6B40}"/>
                  </a:ext>
                </a:extLst>
              </p:cNvPr>
              <p:cNvSpPr txBox="1"/>
              <p:nvPr/>
            </p:nvSpPr>
            <p:spPr>
              <a:xfrm>
                <a:off x="1037632" y="2278414"/>
                <a:ext cx="3176262" cy="36933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𝑖𝑑𝑥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𝑙𝑒𝑛</m:t>
                    </m:r>
                  </m:oMath>
                </a14:m>
                <a:r>
                  <a:rPr lang="en-US" dirty="0"/>
                  <a:t> in UTVPI form: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901A342-DEAB-B728-D409-1388311E6B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632" y="2278414"/>
                <a:ext cx="3176262" cy="369332"/>
              </a:xfrm>
              <a:prstGeom prst="rect">
                <a:avLst/>
              </a:prstGeom>
              <a:blipFill>
                <a:blip r:embed="rId4"/>
                <a:stretch>
                  <a:fillRect t="-6667" r="-1195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8128C59-7846-EB02-BE99-5D515D4A9491}"/>
                  </a:ext>
                </a:extLst>
              </p:cNvPr>
              <p:cNvSpPr txBox="1"/>
              <p:nvPr/>
            </p:nvSpPr>
            <p:spPr>
              <a:xfrm>
                <a:off x="4522182" y="2461284"/>
                <a:ext cx="2615396" cy="10516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p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p>
                                  </m:sSup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𝑖𝑑𝑥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𝑙𝑒𝑛</m:t>
                                  </m:r>
                                </m:e>
                              </m:mr>
                            </m:m>
                          </m:e>
                        </m:m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p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p>
                                  </m:sSup>
                                </m:e>
                              </m:mr>
                              <m:m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𝑖𝑑𝑥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𝑙𝑒𝑛</m:t>
                                  </m:r>
                                </m:e>
                              </m:mr>
                            </m:m>
                          </m:e>
                          <m:e>
                            <m:d>
                              <m:d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∞</m:t>
                                      </m:r>
                                    </m: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∞</m:t>
                                      </m:r>
                                    </m: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∞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∞</m:t>
                                      </m:r>
                                    </m: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∞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∞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∞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8128C59-7846-EB02-BE99-5D515D4A9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2182" y="2461284"/>
                <a:ext cx="2615396" cy="1051698"/>
              </a:xfrm>
              <a:prstGeom prst="rect">
                <a:avLst/>
              </a:prstGeom>
              <a:blipFill>
                <a:blip r:embed="rId5"/>
                <a:stretch>
                  <a:fillRect l="-1932" b="-5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841BDB0-F6DE-C589-A3CE-9E462C42B4A7}"/>
                  </a:ext>
                </a:extLst>
              </p:cNvPr>
              <p:cNvSpPr txBox="1"/>
              <p:nvPr/>
            </p:nvSpPr>
            <p:spPr>
              <a:xfrm>
                <a:off x="1750203" y="2710134"/>
                <a:ext cx="1751120" cy="55399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𝑖𝑑𝑥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≤0</m:t>
                      </m:r>
                    </m:oMath>
                  </m:oMathPara>
                </a14:m>
                <a:endParaRPr lang="en-US" b="0" dirty="0">
                  <a:solidFill>
                    <a:srgbClr val="00B05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𝑖𝑑𝑥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𝑙𝑒𝑛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≤−1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841BDB0-F6DE-C589-A3CE-9E462C42B4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0203" y="2710134"/>
                <a:ext cx="1751120" cy="553998"/>
              </a:xfrm>
              <a:prstGeom prst="rect">
                <a:avLst/>
              </a:prstGeom>
              <a:blipFill>
                <a:blip r:embed="rId6"/>
                <a:stretch>
                  <a:fillRect l="-2878" r="-2878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loud Callout 12">
                <a:extLst>
                  <a:ext uri="{FF2B5EF4-FFF2-40B4-BE49-F238E27FC236}">
                    <a16:creationId xmlns:a16="http://schemas.microsoft.com/office/drawing/2014/main" id="{DA78446C-368E-B867-68F9-E3984DC4BEC3}"/>
                  </a:ext>
                </a:extLst>
              </p:cNvPr>
              <p:cNvSpPr/>
              <p:nvPr/>
            </p:nvSpPr>
            <p:spPr>
              <a:xfrm>
                <a:off x="7369528" y="1908468"/>
                <a:ext cx="3926216" cy="1603332"/>
              </a:xfrm>
              <a:prstGeom prst="cloudCallout">
                <a:avLst>
                  <a:gd name="adj1" fmla="val -56547"/>
                  <a:gd name="adj2" fmla="val 27257"/>
                </a:avLst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What about implicit constraints?</a:t>
                </a:r>
                <a:br>
                  <a:rPr lang="en-US" dirty="0">
                    <a:solidFill>
                      <a:schemeClr val="tx1"/>
                    </a:solidFill>
                  </a:rPr>
                </a:br>
                <a:r>
                  <a:rPr lang="en-US" dirty="0">
                    <a:solidFill>
                      <a:schemeClr val="tx1"/>
                    </a:solidFill>
                  </a:rPr>
                  <a:t>E.g.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𝑙𝑒𝑛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Cloud Callout 12">
                <a:extLst>
                  <a:ext uri="{FF2B5EF4-FFF2-40B4-BE49-F238E27FC236}">
                    <a16:creationId xmlns:a16="http://schemas.microsoft.com/office/drawing/2014/main" id="{DA78446C-368E-B867-68F9-E3984DC4BE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9528" y="1908468"/>
                <a:ext cx="3926216" cy="1603332"/>
              </a:xfrm>
              <a:prstGeom prst="cloudCallout">
                <a:avLst>
                  <a:gd name="adj1" fmla="val -56547"/>
                  <a:gd name="adj2" fmla="val 27257"/>
                </a:avLst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0DA9061-74A1-E5E5-258E-D54D255C184D}"/>
                  </a:ext>
                </a:extLst>
              </p:cNvPr>
              <p:cNvSpPr txBox="1"/>
              <p:nvPr/>
            </p:nvSpPr>
            <p:spPr>
              <a:xfrm>
                <a:off x="3750993" y="2827133"/>
                <a:ext cx="626049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0DA9061-74A1-E5E5-258E-D54D255C18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0993" y="2827133"/>
                <a:ext cx="626049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7964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40FB8-6385-A331-99EB-EF0D02576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Inferring all implicit UTVPI 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A92C57-1EF5-FA19-125D-8D0B00FCF2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FFA500"/>
                    </a:solidFill>
                  </a:rPr>
                  <a:t>Saturation</a:t>
                </a:r>
                <a:r>
                  <a:rPr lang="en-US" dirty="0"/>
                  <a:t> (Closure)</a:t>
                </a:r>
              </a:p>
              <a:p>
                <a:pPr lvl="1"/>
                <a:r>
                  <a:rPr lang="en-US" dirty="0"/>
                  <a:t>How: Fourier-</a:t>
                </a:r>
                <a:r>
                  <a:rPr lang="en-US" dirty="0" err="1"/>
                  <a:t>Motzkin</a:t>
                </a:r>
                <a:r>
                  <a:rPr lang="en-US" dirty="0"/>
                  <a:t> variable elimination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⋀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CA" dirty="0"/>
                  <a:t>Goal</a:t>
                </a:r>
                <a:r>
                  <a:rPr lang="en-CA" b="1" dirty="0"/>
                  <a:t>:</a:t>
                </a:r>
                <a:r>
                  <a:rPr lang="en-CA" dirty="0"/>
                  <a:t> make implicit constraints explicit and representable.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Implementation: </a:t>
                </a:r>
                <a:r>
                  <a:rPr lang="en-CA" dirty="0"/>
                  <a:t>Floyd–</a:t>
                </a:r>
                <a:r>
                  <a:rPr lang="en-CA" dirty="0" err="1"/>
                  <a:t>Warshall</a:t>
                </a:r>
                <a:r>
                  <a:rPr lang="en-CA" dirty="0"/>
                  <a:t> algorithm</a:t>
                </a:r>
              </a:p>
              <a:p>
                <a:pPr marL="0" indent="0">
                  <a:buNone/>
                </a:pPr>
                <a:r>
                  <a:rPr lang="en-CA" dirty="0"/>
                  <a:t>Back to the example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A92C57-1EF5-FA19-125D-8D0B00FCF2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98F91-378A-820E-F2E8-3BEA79F56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72BF3-52D2-AC47-A795-455346AC0757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BDAD157-AB20-7745-BA36-5032500E5A8A}"/>
                  </a:ext>
                </a:extLst>
              </p:cNvPr>
              <p:cNvSpPr txBox="1"/>
              <p:nvPr/>
            </p:nvSpPr>
            <p:spPr>
              <a:xfrm>
                <a:off x="1136418" y="4401129"/>
                <a:ext cx="4959581" cy="36933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b="0" dirty="0"/>
                  <a:t>All constraints for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𝑖𝑑𝑥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𝑙𝑒𝑛</m:t>
                    </m:r>
                  </m:oMath>
                </a14:m>
                <a:r>
                  <a:rPr lang="en-US" dirty="0"/>
                  <a:t> in UTVPI form: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BDAD157-AB20-7745-BA36-5032500E5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6418" y="4401129"/>
                <a:ext cx="4959581" cy="369332"/>
              </a:xfrm>
              <a:prstGeom prst="rect">
                <a:avLst/>
              </a:prstGeom>
              <a:blipFill>
                <a:blip r:embed="rId4"/>
                <a:stretch>
                  <a:fillRect l="-1020" t="-6667" r="-255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DCEF5A0-3EAA-092A-BD7D-4F2B260F0D70}"/>
                  </a:ext>
                </a:extLst>
              </p:cNvPr>
              <p:cNvSpPr txBox="1"/>
              <p:nvPr/>
            </p:nvSpPr>
            <p:spPr>
              <a:xfrm>
                <a:off x="3078480" y="5216175"/>
                <a:ext cx="1820553" cy="831061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𝑖𝑑𝑥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≤0</m:t>
                      </m:r>
                    </m:oMath>
                  </m:oMathPara>
                </a14:m>
                <a:endParaRPr lang="en-US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𝑖𝑑𝑥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𝑙𝑒𝑛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≤−1</m:t>
                      </m:r>
                    </m:oMath>
                  </m:oMathPara>
                </a14:m>
                <a:endParaRPr lang="en-US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𝑙𝑒𝑛</m:t>
                      </m:r>
                      <m:r>
                        <a:rPr lang="en-US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≤−1</m:t>
                      </m:r>
                    </m:oMath>
                  </m:oMathPara>
                </a14:m>
                <a:br>
                  <a:rPr lang="en-US" b="0" i="1" dirty="0">
                    <a:solidFill>
                      <a:schemeClr val="accent5"/>
                    </a:solidFill>
                    <a:latin typeface="Cambria Math" panose="02040503050406030204" pitchFamily="18" charset="0"/>
                  </a:rPr>
                </a:br>
                <a:endParaRPr lang="en-US" b="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DCEF5A0-3EAA-092A-BD7D-4F2B260F0D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8480" y="5216175"/>
                <a:ext cx="1820553" cy="831061"/>
              </a:xfrm>
              <a:prstGeom prst="rect">
                <a:avLst/>
              </a:prstGeom>
              <a:blipFill>
                <a:blip r:embed="rId5"/>
                <a:stretch>
                  <a:fillRect l="-694" r="-1389" b="-2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FE28201-1D3E-D19A-B91E-DE755DFF758A}"/>
                  </a:ext>
                </a:extLst>
              </p:cNvPr>
              <p:cNvSpPr txBox="1"/>
              <p:nvPr/>
            </p:nvSpPr>
            <p:spPr>
              <a:xfrm>
                <a:off x="6146974" y="5031662"/>
                <a:ext cx="2598852" cy="10516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p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p>
                                  </m:sSup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𝑖𝑑𝑥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𝑙𝑒𝑛</m:t>
                                  </m:r>
                                </m:e>
                              </m:mr>
                            </m:m>
                          </m:e>
                        </m:m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p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p>
                                  </m:sSup>
                                </m:e>
                              </m:mr>
                              <m:m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𝑖𝑑𝑥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𝑙𝑒𝑛</m:t>
                                  </m:r>
                                </m:e>
                              </m:mr>
                            </m:m>
                          </m:e>
                          <m:e>
                            <m:d>
                              <m:d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∞</m:t>
                                      </m:r>
                                    </m: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∞</m:t>
                                      </m:r>
                                    </m: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∞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∞</m:t>
                                      </m:r>
                                    </m: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∞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∞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FE28201-1D3E-D19A-B91E-DE755DFF75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6974" y="5031662"/>
                <a:ext cx="2598852" cy="1051698"/>
              </a:xfrm>
              <a:prstGeom prst="rect">
                <a:avLst/>
              </a:prstGeom>
              <a:blipFill>
                <a:blip r:embed="rId6"/>
                <a:stretch>
                  <a:fillRect l="-1942" b="-5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DFFC1B1-4905-E091-5DEA-D35CA87698A9}"/>
                  </a:ext>
                </a:extLst>
              </p:cNvPr>
              <p:cNvSpPr txBox="1"/>
              <p:nvPr/>
            </p:nvSpPr>
            <p:spPr>
              <a:xfrm>
                <a:off x="5209979" y="5342068"/>
                <a:ext cx="626049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DFFC1B1-4905-E091-5DEA-D35CA87698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9979" y="5342068"/>
                <a:ext cx="626049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1416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712C4-F2B5-2992-7C53-B995EBC3E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5ADAD-5BDD-644B-2792-09B86181B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Road 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8FA46-27E1-2071-647C-37961345D0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Motivation</a:t>
            </a:r>
          </a:p>
          <a:p>
            <a:pPr marL="0" indent="0">
              <a:buNone/>
            </a:pPr>
            <a:r>
              <a:rPr lang="en-US" dirty="0"/>
              <a:t>Background</a:t>
            </a:r>
          </a:p>
          <a:p>
            <a:pPr lvl="1"/>
            <a:r>
              <a:rPr lang="en-US" dirty="0"/>
              <a:t>Zones as a Difference Bound Matrix (DBM)</a:t>
            </a:r>
          </a:p>
          <a:p>
            <a:pPr marL="0" indent="0">
              <a:buNone/>
            </a:pPr>
            <a:r>
              <a:rPr lang="en-US" dirty="0">
                <a:solidFill>
                  <a:srgbClr val="FFA500"/>
                </a:solidFill>
              </a:rPr>
              <a:t>Contributions</a:t>
            </a:r>
          </a:p>
          <a:p>
            <a:pPr lvl="1"/>
            <a:r>
              <a:rPr lang="en-US" dirty="0">
                <a:solidFill>
                  <a:srgbClr val="FFA500"/>
                </a:solidFill>
              </a:rPr>
              <a:t>Extending DBM</a:t>
            </a:r>
          </a:p>
          <a:p>
            <a:pPr lvl="1"/>
            <a:r>
              <a:rPr lang="en-US" dirty="0"/>
              <a:t>A domain of TVPI constraints with templates</a:t>
            </a:r>
          </a:p>
          <a:p>
            <a:pPr lvl="1"/>
            <a:r>
              <a:rPr lang="en-US" dirty="0"/>
              <a:t>Implementation and Experiments</a:t>
            </a:r>
          </a:p>
          <a:p>
            <a:pPr marL="0" indent="0">
              <a:buNone/>
            </a:pPr>
            <a:r>
              <a:rPr lang="en-US" dirty="0"/>
              <a:t>Conclusion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D6B9B-D02F-2085-D682-9F2D954B6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72BF3-52D2-AC47-A795-455346AC075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5898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83C0F-14EF-5C49-BFCF-1EA02DC77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AAC3D-1E51-3E8B-73B9-D3528C839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template DBM (</a:t>
            </a:r>
            <a:r>
              <a:rPr lang="en-US" err="1"/>
              <a:t>tDBM</a:t>
            </a:r>
            <a:r>
              <a:rPr lang="en-US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592B5E-08F8-0204-25B1-5F8DC53E6F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CA" dirty="0"/>
                  <a:t>Handling </a:t>
                </a:r>
                <a:r>
                  <a:rPr lang="en-CA" dirty="0">
                    <a:solidFill>
                      <a:srgbClr val="FFA500"/>
                    </a:solidFill>
                  </a:rPr>
                  <a:t>non-unit Coefficients </a:t>
                </a:r>
                <a:r>
                  <a:rPr lang="en-CA" dirty="0"/>
                  <a:t>in TVPI Constraints: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−4∗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en-US" dirty="0"/>
                  <a:t>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m:t>4</m:t>
                    </m:r>
                    <m:r>
                      <m:rPr>
                        <m:nor/>
                      </m:rPr>
                      <a: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m:t>y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4∗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CA" dirty="0"/>
                  <a:t> is a dimension 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4y</a:t>
                </a:r>
                <a:r>
                  <a:rPr lang="en-CA" dirty="0"/>
                  <a:t> in DBM.</a:t>
                </a:r>
              </a:p>
              <a:p>
                <a:pPr marL="0" indent="0">
                  <a:buNone/>
                </a:pPr>
                <a:r>
                  <a:rPr lang="en-US" dirty="0"/>
                  <a:t>Dimensions depend on a </a:t>
                </a:r>
                <a:r>
                  <a:rPr lang="en-US" dirty="0">
                    <a:solidFill>
                      <a:srgbClr val="FFA500"/>
                    </a:solidFill>
                  </a:rPr>
                  <a:t>coefficient template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,…}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≥1</m:t>
                        </m:r>
                      </m:sup>
                    </m:sSup>
                  </m:oMath>
                </a14:m>
                <a:r>
                  <a:rPr lang="en-US" dirty="0"/>
                  <a:t>, can be restricted to a small set.</a:t>
                </a:r>
              </a:p>
              <a:p>
                <a:pPr lvl="1"/>
                <a:r>
                  <a:rPr lang="en-US" dirty="0"/>
                  <a:t>In practice,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always.</a:t>
                </a:r>
              </a:p>
              <a:p>
                <a:pPr marL="0" indent="0">
                  <a:buNone/>
                </a:pPr>
                <a:r>
                  <a:rPr lang="en-US" dirty="0"/>
                  <a:t>A </a:t>
                </a:r>
                <a:r>
                  <a:rPr lang="en-US" dirty="0" err="1"/>
                  <a:t>tDBM</a:t>
                </a:r>
                <a:r>
                  <a:rPr lang="en-US" dirty="0"/>
                  <a:t> represents a constraint set:</a:t>
                </a:r>
              </a:p>
              <a:p>
                <a:pPr marL="457200" lvl="1" indent="0" algn="ctr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For Zones, it is a special case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592B5E-08F8-0204-25B1-5F8DC53E6F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90ABC8-59BE-56C6-673B-7A81CFDA2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72BF3-52D2-AC47-A795-455346AC075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552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F571B-F64F-3759-C8A7-3CC16D562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5601B-0BEB-BA2E-83C1-4C956676C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Encoding Constraints in </a:t>
            </a:r>
            <a:r>
              <a:rPr lang="en-US" dirty="0" err="1"/>
              <a:t>tDBM</a:t>
            </a:r>
            <a:r>
              <a:rPr lang="en-US" dirty="0"/>
              <a:t> (example)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40EC6C-C955-FC10-EB36-9F3392CFC0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For presentation purpose, we visualize </a:t>
                </a:r>
                <a:r>
                  <a:rPr lang="en-US" altLang="zh-CN" dirty="0" err="1"/>
                  <a:t>tDBM</a:t>
                </a:r>
                <a:r>
                  <a:rPr lang="en-US" altLang="zh-CN" dirty="0"/>
                  <a:t> into two parts:</a:t>
                </a:r>
                <a:endParaRPr lang="en-US" dirty="0"/>
              </a:p>
              <a:p>
                <a:pPr lvl="1"/>
                <a:r>
                  <a:rPr lang="en-US" dirty="0"/>
                  <a:t>Classical </a:t>
                </a:r>
                <a:r>
                  <a:rPr lang="en-US" altLang="zh-CN" dirty="0">
                    <a:solidFill>
                      <a:srgbClr val="FFA500"/>
                    </a:solidFill>
                  </a:rPr>
                  <a:t>UTVPI</a:t>
                </a:r>
                <a:r>
                  <a:rPr lang="en-US" dirty="0">
                    <a:solidFill>
                      <a:srgbClr val="FFA500"/>
                    </a:solidFill>
                  </a:rPr>
                  <a:t> </a:t>
                </a:r>
                <a:r>
                  <a:rPr lang="en-US" altLang="zh-CN" dirty="0">
                    <a:solidFill>
                      <a:srgbClr val="FFA500"/>
                    </a:solidFill>
                  </a:rPr>
                  <a:t>constraints</a:t>
                </a:r>
                <a:r>
                  <a:rPr lang="zh-CN" altLang="en-US" dirty="0">
                    <a:solidFill>
                      <a:srgbClr val="FFA500"/>
                    </a:solidFill>
                  </a:rPr>
                  <a:t> </a:t>
                </a:r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i="1" dirty="0" err="1" smtClean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Extended </a:t>
                </a:r>
                <a:r>
                  <a:rPr lang="en-US" altLang="zh-CN" dirty="0">
                    <a:solidFill>
                      <a:srgbClr val="FFA500"/>
                    </a:solidFill>
                  </a:rPr>
                  <a:t>TVPI</a:t>
                </a:r>
                <a:r>
                  <a:rPr lang="zh-CN" altLang="en-US" dirty="0">
                    <a:solidFill>
                      <a:srgbClr val="FFA500"/>
                    </a:solidFill>
                  </a:rPr>
                  <a:t> </a:t>
                </a:r>
                <a:r>
                  <a:rPr lang="en-US" altLang="zh-CN" dirty="0">
                    <a:solidFill>
                      <a:srgbClr val="FFA500"/>
                    </a:solidFill>
                  </a:rPr>
                  <a:t>constraints</a:t>
                </a:r>
                <a:r>
                  <a:rPr lang="zh-CN" altLang="en-US" dirty="0">
                    <a:solidFill>
                      <a:srgbClr val="FFA500"/>
                    </a:solidFill>
                  </a:rPr>
                  <a:t> </a:t>
                </a:r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={1,4}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40EC6C-C955-FC10-EB36-9F3392CFC0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524B34-6BE6-693B-0A2D-E3C9FE30B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72BF3-52D2-AC47-A795-455346AC0757}" type="slidenum">
              <a:rPr lang="en-US" smtClean="0"/>
              <a:t>13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F910408-D0D3-E547-3516-7406CBB32236}"/>
                  </a:ext>
                </a:extLst>
              </p:cNvPr>
              <p:cNvSpPr txBox="1"/>
              <p:nvPr/>
            </p:nvSpPr>
            <p:spPr>
              <a:xfrm>
                <a:off x="3109424" y="3623520"/>
                <a:ext cx="2476063" cy="230832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UTVPI: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𝑖𝑑𝑥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≤0</m:t>
                      </m:r>
                    </m:oMath>
                  </m:oMathPara>
                </a14:m>
                <a:endParaRPr lang="en-US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𝑖𝑑𝑥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𝑙𝑒𝑛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≤−1</m:t>
                      </m:r>
                    </m:oMath>
                  </m:oMathPara>
                </a14:m>
                <a:endParaRPr lang="en-US" dirty="0"/>
              </a:p>
              <a:p>
                <a:r>
                  <a:rPr lang="en-CA" dirty="0"/>
                  <a:t>TVPI: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m:t>offset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m:t>4</m:t>
                      </m:r>
                      <m:r>
                        <m:rPr>
                          <m:nor/>
                        </m:rPr>
                        <a:rPr lang="en-US" b="0" i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m:t>idx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≤0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m:t>4</m:t>
                      </m:r>
                      <m:r>
                        <m:rPr>
                          <m:nor/>
                        </m:rP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m:t>idx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m:t>offset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≤0</m:t>
                      </m:r>
                    </m:oMath>
                  </m:oMathPara>
                </a14:m>
                <a:endParaRPr lang="en-US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m:t>size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m:t>4</m:t>
                      </m:r>
                      <m:r>
                        <m:rPr>
                          <m:nor/>
                        </m:rPr>
                        <a:rPr lang="en-US" b="0" i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m:t>l</m:t>
                      </m:r>
                      <m:r>
                        <m:rPr>
                          <m:nor/>
                        </m:rPr>
                        <a:rPr lang="en-US" b="0" i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b="0" i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m:t>len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≤0</m:t>
                      </m:r>
                    </m:oMath>
                  </m:oMathPara>
                </a14:m>
                <a:endParaRPr lang="en-US" b="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m:t>4</m:t>
                      </m:r>
                      <m:r>
                        <m:rPr>
                          <m:nor/>
                        </m:rP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m:t>l</m:t>
                      </m:r>
                      <m:r>
                        <m:rPr>
                          <m:nor/>
                        </m:rP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m:t>len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m:t>size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≤0</m:t>
                      </m:r>
                    </m:oMath>
                  </m:oMathPara>
                </a14:m>
                <a:endParaRPr lang="en-US" b="0" i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F910408-D0D3-E547-3516-7406CBB32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9424" y="3623520"/>
                <a:ext cx="2476063" cy="2308324"/>
              </a:xfrm>
              <a:prstGeom prst="rect">
                <a:avLst/>
              </a:prstGeom>
              <a:blipFill>
                <a:blip r:embed="rId4"/>
                <a:stretch>
                  <a:fillRect l="-2041" t="-10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D3271C8-94FD-9B16-BCE6-4A34FDED1C96}"/>
                  </a:ext>
                </a:extLst>
              </p:cNvPr>
              <p:cNvSpPr txBox="1"/>
              <p:nvPr/>
            </p:nvSpPr>
            <p:spPr>
              <a:xfrm>
                <a:off x="6096000" y="3174820"/>
                <a:ext cx="2866297" cy="10345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sty m:val="p"/>
                                <m:brk m:alnAt="7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U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TVPI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:</m:t>
                            </m:r>
                          </m:e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p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p>
                                  </m:sSup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𝑖𝑑𝑥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𝑙𝑒𝑛</m:t>
                                  </m:r>
                                </m:e>
                              </m:mr>
                            </m:m>
                          </m:e>
                        </m:m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p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p>
                                  </m:sSup>
                                </m:e>
                              </m:mr>
                              <m:m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𝑖𝑑𝑥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𝑙𝑒𝑛</m:t>
                                  </m:r>
                                </m:e>
                              </m:mr>
                            </m:m>
                          </m:e>
                          <m:e>
                            <m:d>
                              <m:d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∞</m:t>
                                      </m:r>
                                    </m: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∞</m:t>
                                      </m:r>
                                    </m: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∞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∞</m:t>
                                      </m:r>
                                    </m: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∞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∞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∞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D3271C8-94FD-9B16-BCE6-4A34FDED1C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174820"/>
                <a:ext cx="2866297" cy="1034579"/>
              </a:xfrm>
              <a:prstGeom prst="rect">
                <a:avLst/>
              </a:prstGeom>
              <a:blipFill>
                <a:blip r:embed="rId5"/>
                <a:stretch>
                  <a:fillRect l="-885" b="-60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7189BEA-AA13-FFB6-EC60-EE839271FD03}"/>
                  </a:ext>
                </a:extLst>
              </p:cNvPr>
              <p:cNvSpPr txBox="1"/>
              <p:nvPr/>
            </p:nvSpPr>
            <p:spPr>
              <a:xfrm>
                <a:off x="6096000" y="4777682"/>
                <a:ext cx="5027467" cy="12490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𝑉𝑃𝐼</m:t>
                                  </m:r>
                                </m:e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.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dirty="0">
                                            <a:latin typeface="Consolas" panose="020B0609020204030204" pitchFamily="49" charset="0"/>
                                            <a:cs typeface="Consolas" panose="020B0609020204030204" pitchFamily="49" charset="0"/>
                                          </a:rPr>
                                          <m:t>offset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.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dirty="0">
                                            <a:latin typeface="Consolas" panose="020B0609020204030204" pitchFamily="49" charset="0"/>
                                            <a:cs typeface="Consolas" panose="020B0609020204030204" pitchFamily="49" charset="0"/>
                                          </a:rPr>
                                          <m:t>size</m:t>
                                        </m:r>
                                      </m:e>
                                    </m:mr>
                                    <m:m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1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en-US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dirty="0">
                                                  <a:latin typeface="Courier New" panose="02070309020205020404" pitchFamily="49" charset="0"/>
                                                  <a:cs typeface="Courier New" panose="02070309020205020404" pitchFamily="49" charset="0"/>
                                                </a:rPr>
                                                <m:t>4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dirty="0">
                                                  <a:latin typeface="Courier New" panose="02070309020205020404" pitchFamily="49" charset="0"/>
                                                  <a:cs typeface="Courier New" panose="02070309020205020404" pitchFamily="49" charset="0"/>
                                                </a:rPr>
                                                <m:t>idx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dirty="0">
                                                  <a:latin typeface="Courier New" panose="02070309020205020404" pitchFamily="49" charset="0"/>
                                                  <a:cs typeface="Courier New" panose="02070309020205020404" pitchFamily="49" charset="0"/>
                                                </a:rPr>
                                                <m:t>4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dirty="0">
                                                  <a:latin typeface="Courier New" panose="02070309020205020404" pitchFamily="49" charset="0"/>
                                                  <a:cs typeface="Courier New" panose="02070309020205020404" pitchFamily="49" charset="0"/>
                                                </a:rPr>
                                                <m:t>l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dirty="0">
                                                  <a:latin typeface="Courier New" panose="02070309020205020404" pitchFamily="49" charset="0"/>
                                                  <a:cs typeface="Courier New" panose="02070309020205020404" pitchFamily="49" charset="0"/>
                                                </a:rPr>
                                                <m:t>.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dirty="0">
                                                  <a:latin typeface="Courier New" panose="02070309020205020404" pitchFamily="49" charset="0"/>
                                                  <a:cs typeface="Courier New" panose="02070309020205020404" pitchFamily="49" charset="0"/>
                                                </a:rPr>
                                                <m:t>len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3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.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dirty="0">
                                            <a:latin typeface="Consolas" panose="020B0609020204030204" pitchFamily="49" charset="0"/>
                                            <a:cs typeface="Consolas" panose="020B0609020204030204" pitchFamily="49" charset="0"/>
                                          </a:rPr>
                                          <m:t>offset</m:t>
                                        </m:r>
                                      </m:e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.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dirty="0">
                                            <a:latin typeface="Consolas" panose="020B0609020204030204" pitchFamily="49" charset="0"/>
                                            <a:cs typeface="Consolas" panose="020B0609020204030204" pitchFamily="49" charset="0"/>
                                          </a:rPr>
                                          <m:t>size</m:t>
                                        </m:r>
                                      </m:e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en-US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dirty="0">
                                                  <a:latin typeface="Courier New" panose="02070309020205020404" pitchFamily="49" charset="0"/>
                                                  <a:cs typeface="Courier New" panose="02070309020205020404" pitchFamily="49" charset="0"/>
                                                </a:rPr>
                                                <m:t>4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dirty="0">
                                                  <a:latin typeface="Courier New" panose="02070309020205020404" pitchFamily="49" charset="0"/>
                                                  <a:cs typeface="Courier New" panose="02070309020205020404" pitchFamily="49" charset="0"/>
                                                </a:rPr>
                                                <m:t>idx</m:t>
                                              </m:r>
                                            </m:e>
                                            <m:e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dirty="0">
                                                  <a:latin typeface="Courier New" panose="02070309020205020404" pitchFamily="49" charset="0"/>
                                                  <a:cs typeface="Courier New" panose="02070309020205020404" pitchFamily="49" charset="0"/>
                                                </a:rPr>
                                                <m:t>4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dirty="0">
                                                  <a:latin typeface="Courier New" panose="02070309020205020404" pitchFamily="49" charset="0"/>
                                                  <a:cs typeface="Courier New" panose="02070309020205020404" pitchFamily="49" charset="0"/>
                                                </a:rPr>
                                                <m:t>l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dirty="0">
                                                  <a:latin typeface="Courier New" panose="02070309020205020404" pitchFamily="49" charset="0"/>
                                                  <a:cs typeface="Courier New" panose="02070309020205020404" pitchFamily="49" charset="0"/>
                                                </a:rPr>
                                                <m:t>.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dirty="0">
                                                  <a:latin typeface="Courier New" panose="02070309020205020404" pitchFamily="49" charset="0"/>
                                                  <a:cs typeface="Courier New" panose="02070309020205020404" pitchFamily="49" charset="0"/>
                                                </a:rPr>
                                                <m:t>len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</m:mr>
                                  </m:m>
                                </m:e>
                              </m:mr>
                              <m:mr>
                                <m:e>
                                  <m:d>
                                    <m:d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∞</m:t>
                                            </m: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US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+</m:t>
                                                  </m:r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∞</m:t>
                                                  </m:r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   </m:t>
                                                  </m:r>
                                                </m:e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 </m:t>
                                                  </m:r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2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n-US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r>
                                                          <m:rPr>
                                                            <m:brk m:alnAt="7"/>
                                                          </m:rPr>
                                                          <a:rPr lang="en-US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  <m:r>
                                                          <a:rPr lang="en-US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 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a:rPr lang="en-US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  </m:t>
                                                        </m:r>
                                                        <m:r>
                                                          <m:rPr>
                                                            <m:brk m:alnAt="7"/>
                                                          </m:rP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+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∞</m:t>
                                                        </m: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1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US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+</m:t>
                                                  </m:r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∞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1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n-US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r>
                                                          <m:rPr>
                                                            <m:brk m:alnAt="7"/>
                                                          </m:rPr>
                                                          <a:rPr lang="en-US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</m:mr>
                                                    <m:mr>
                                                      <m:e>
                                                        <m:r>
                                                          <m:rPr>
                                                            <m:brk m:alnAt="7"/>
                                                          </m:rP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+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∞</m:t>
                                                        </m: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US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1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n-US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r>
                                                          <m:rPr>
                                                            <m:brk m:alnAt="7"/>
                                                          </m:rPr>
                                                          <a:rPr lang="en-US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 </m:t>
                                                        </m:r>
                                                        <m:r>
                                                          <a:rPr lang="en-US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  </m:t>
                                                        </m:r>
                                                        <m:r>
                                                          <a:rPr lang="en-US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+∞</m:t>
                                                        </m:r>
                                                      </m:e>
                                                    </m:mr>
                                                    <m:mr>
                                                      <m:e>
                                                        <m:m>
                                                          <m:mPr>
                                                            <m:mcs>
                                                              <m:mc>
                                                                <m:mcPr>
                                                                  <m:count m:val="1"/>
                                                                  <m:mcJc m:val="center"/>
                                                                </m:mcPr>
                                                              </m:mc>
                                                            </m:mcs>
                                                            <m:ctrlPr>
                                                              <a:rPr lang="en-US" i="1" smtClean="0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</m:ctrlPr>
                                                          </m:mPr>
                                                          <m:mr>
                                                            <m:e>
                                                              <m:r>
                                                                <m:rPr>
                                                                  <m:brk m:alnAt="7"/>
                                                                </m:rPr>
                                                                <a:rPr lang="en-US" b="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 </m:t>
                                                              </m:r>
                                                              <m:r>
                                                                <a:rPr lang="en-US" b="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   </m:t>
                                                              </m:r>
                                                              <m:r>
                                                                <a:rPr lang="en-US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+∞</m:t>
                                                              </m:r>
                                                            </m:e>
                                                          </m:mr>
                                                          <m:mr>
                                                            <m:e>
                                                              <m:r>
                                                                <a:rPr lang="en-US" b="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0</m:t>
                                                              </m:r>
                                                            </m:e>
                                                          </m:mr>
                                                        </m:m>
                                                      </m:e>
                                                    </m:mr>
                                                  </m:m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 </m:t>
                                                  </m:r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 </m:t>
                                                  </m:r>
                                                </m:e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2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n-US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m>
                                                          <m:mPr>
                                                            <m:mcs>
                                                              <m:mc>
                                                                <m:mcPr>
                                                                  <m:count m:val="1"/>
                                                                  <m:mcJc m:val="center"/>
                                                                </m:mcPr>
                                                              </m:mc>
                                                            </m:mcs>
                                                            <m:ctrlPr>
                                                              <a:rPr lang="en-US" i="1" smtClean="0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</m:ctrlPr>
                                                          </m:mPr>
                                                          <m:mr>
                                                            <m:e>
                                                              <m:r>
                                                                <m:rPr>
                                                                  <m:brk m:alnAt="7"/>
                                                                </m:rPr>
                                                                <a:rPr lang="en-US" b="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 </m:t>
                                                              </m:r>
                                                              <m:r>
                                                                <a:rPr lang="en-US" b="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 </m:t>
                                                              </m:r>
                                                              <m:r>
                                                                <a:rPr lang="en-US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+∞</m:t>
                                                              </m:r>
                                                            </m:e>
                                                          </m:mr>
                                                          <m:mr>
                                                            <m:e>
                                                              <m:r>
                                                                <a:rPr lang="en-US" b="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 </m:t>
                                                              </m:r>
                                                              <m:m>
                                                                <m:mPr>
                                                                  <m:mcs>
                                                                    <m:mc>
                                                                      <m:mcPr>
                                                                        <m:count m:val="1"/>
                                                                        <m:mcJc m:val="center"/>
                                                                      </m:mcPr>
                                                                    </m:mc>
                                                                  </m:mcs>
                                                                  <m:ctrlPr>
                                                                    <a:rPr lang="en-US" i="1" smtClean="0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mPr>
                                                                <m:mr>
                                                                  <m:e>
                                                                    <m:r>
                                                                      <m:rPr>
                                                                        <m:brk m:alnAt="7"/>
                                                                      </m:rPr>
                                                                      <a:rPr lang="en-US" i="1">
                                                                        <a:latin typeface="Cambria Math" panose="02040503050406030204" pitchFamily="18" charset="0"/>
                                                                      </a:rPr>
                                                                      <m:t>+</m:t>
                                                                    </m:r>
                                                                    <m:r>
                                                                      <a:rPr lang="en-US" i="1">
                                                                        <a:latin typeface="Cambria Math" panose="02040503050406030204" pitchFamily="18" charset="0"/>
                                                                      </a:rPr>
                                                                      <m:t>∞</m:t>
                                                                    </m:r>
                                                                  </m:e>
                                                                </m:mr>
                                                                <m:mr>
                                                                  <m:e>
                                                                    <m:r>
                                                                      <m:rPr>
                                                                        <m:brk m:alnAt="7"/>
                                                                      </m:rPr>
                                                                      <a:rPr lang="en-US" i="1">
                                                                        <a:latin typeface="Cambria Math" panose="02040503050406030204" pitchFamily="18" charset="0"/>
                                                                      </a:rPr>
                                                                      <m:t>+</m:t>
                                                                    </m:r>
                                                                    <m:r>
                                                                      <a:rPr lang="en-US" i="1">
                                                                        <a:latin typeface="Cambria Math" panose="02040503050406030204" pitchFamily="18" charset="0"/>
                                                                      </a:rPr>
                                                                      <m:t>∞</m:t>
                                                                    </m:r>
                                                                  </m:e>
                                                                </m:mr>
                                                              </m:m>
                                                            </m:e>
                                                          </m:mr>
                                                        </m:m>
                                                      </m:e>
                                                      <m:e>
                                                        <m:m>
                                                          <m:mPr>
                                                            <m:mcs>
                                                              <m:mc>
                                                                <m:mcPr>
                                                                  <m:count m:val="1"/>
                                                                  <m:mcJc m:val="center"/>
                                                                </m:mcPr>
                                                              </m:mc>
                                                            </m:mcs>
                                                            <m:ctrlPr>
                                                              <a:rPr lang="en-US" i="1" smtClean="0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</m:ctrlPr>
                                                          </m:mPr>
                                                          <m:mr>
                                                            <m:e>
                                                              <m:r>
                                                                <m:rPr>
                                                                  <m:brk m:alnAt="7"/>
                                                                </m:rPr>
                                                                <a:rPr lang="en-US" b="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0</m:t>
                                                              </m:r>
                                                            </m:e>
                                                          </m:mr>
                                                          <m:mr>
                                                            <m:e>
                                                              <m:m>
                                                                <m:mPr>
                                                                  <m:mcs>
                                                                    <m:mc>
                                                                      <m:mcPr>
                                                                        <m:count m:val="1"/>
                                                                        <m:mcJc m:val="center"/>
                                                                      </m:mcPr>
                                                                    </m:mc>
                                                                  </m:mcs>
                                                                  <m:ctrlPr>
                                                                    <a:rPr lang="en-US" i="1" smtClean="0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mPr>
                                                                <m:mr>
                                                                  <m:e>
                                                                    <m:r>
                                                                      <m:rPr>
                                                                        <m:brk m:alnAt="7"/>
                                                                      </m:rPr>
                                                                      <a:rPr lang="en-US" b="0" i="1" smtClean="0">
                                                                        <a:latin typeface="Cambria Math" panose="02040503050406030204" pitchFamily="18" charset="0"/>
                                                                      </a:rPr>
                                                                      <m:t> </m:t>
                                                                    </m:r>
                                                                    <m:r>
                                                                      <a:rPr lang="en-US" b="0" i="1" smtClean="0">
                                                                        <a:latin typeface="Cambria Math" panose="02040503050406030204" pitchFamily="18" charset="0"/>
                                                                      </a:rPr>
                                                                      <m:t>   </m:t>
                                                                    </m:r>
                                                                    <m:r>
                                                                      <a:rPr lang="en-US" i="1">
                                                                        <a:latin typeface="Cambria Math" panose="02040503050406030204" pitchFamily="18" charset="0"/>
                                                                      </a:rPr>
                                                                      <m:t>+∞</m:t>
                                                                    </m:r>
                                                                  </m:e>
                                                                </m:mr>
                                                                <m:mr>
                                                                  <m:e>
                                                                    <m:r>
                                                                      <a:rPr lang="en-US" b="0" i="1" smtClean="0">
                                                                        <a:latin typeface="Cambria Math" panose="02040503050406030204" pitchFamily="18" charset="0"/>
                                                                      </a:rPr>
                                                                      <m:t>    </m:t>
                                                                    </m:r>
                                                                    <m:r>
                                                                      <m:rPr>
                                                                        <m:brk m:alnAt="7"/>
                                                                      </m:rPr>
                                                                      <a:rPr lang="en-US" i="1">
                                                                        <a:latin typeface="Cambria Math" panose="02040503050406030204" pitchFamily="18" charset="0"/>
                                                                      </a:rPr>
                                                                      <m:t>+</m:t>
                                                                    </m:r>
                                                                    <m:r>
                                                                      <a:rPr lang="en-US" i="1">
                                                                        <a:latin typeface="Cambria Math" panose="02040503050406030204" pitchFamily="18" charset="0"/>
                                                                      </a:rPr>
                                                                      <m:t>∞</m:t>
                                                                    </m:r>
                                                                  </m:e>
                                                                </m:mr>
                                                              </m:m>
                                                            </m:e>
                                                          </m:mr>
                                                        </m:m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d>
                                </m:e>
                              </m:mr>
                            </m:m>
                          </m:e>
                        </m:mr>
                      </m:m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7189BEA-AA13-FFB6-EC60-EE839271FD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777682"/>
                <a:ext cx="5027467" cy="1249060"/>
              </a:xfrm>
              <a:prstGeom prst="rect">
                <a:avLst/>
              </a:prstGeom>
              <a:blipFill>
                <a:blip r:embed="rId6"/>
                <a:stretch>
                  <a:fillRect l="-756" t="-1010" r="-252" b="-10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Up Arrow 13">
            <a:extLst>
              <a:ext uri="{FF2B5EF4-FFF2-40B4-BE49-F238E27FC236}">
                <a16:creationId xmlns:a16="http://schemas.microsoft.com/office/drawing/2014/main" id="{70710A4D-10B6-5D2A-138B-1FB4CB4DD6A3}"/>
              </a:ext>
            </a:extLst>
          </p:cNvPr>
          <p:cNvSpPr/>
          <p:nvPr/>
        </p:nvSpPr>
        <p:spPr>
          <a:xfrm rot="2944777">
            <a:off x="5452458" y="3300575"/>
            <a:ext cx="405241" cy="815764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Up Arrow 14">
            <a:extLst>
              <a:ext uri="{FF2B5EF4-FFF2-40B4-BE49-F238E27FC236}">
                <a16:creationId xmlns:a16="http://schemas.microsoft.com/office/drawing/2014/main" id="{DE54D612-0EDA-2A14-E75F-282085AAFB65}"/>
              </a:ext>
            </a:extLst>
          </p:cNvPr>
          <p:cNvSpPr/>
          <p:nvPr/>
        </p:nvSpPr>
        <p:spPr>
          <a:xfrm rot="5400000">
            <a:off x="5666473" y="4544726"/>
            <a:ext cx="405241" cy="601279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77C288-B5D5-BF68-8592-165DAE36E42F}"/>
                  </a:ext>
                </a:extLst>
              </p:cNvPr>
              <p:cNvSpPr txBox="1"/>
              <p:nvPr/>
            </p:nvSpPr>
            <p:spPr>
              <a:xfrm>
                <a:off x="384387" y="4478882"/>
                <a:ext cx="2195024" cy="92333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m:t>offset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𝑖𝑑𝑥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m:t>size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𝑙𝑒𝑛</m:t>
                      </m:r>
                    </m:oMath>
                    <m:oMath xmlns:m="http://schemas.openxmlformats.org/officeDocument/2006/math"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0≤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𝑖𝑑𝑥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𝑙𝑒𝑛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77C288-B5D5-BF68-8592-165DAE36E4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387" y="4478882"/>
                <a:ext cx="2195024" cy="92333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Arrow 3">
            <a:extLst>
              <a:ext uri="{FF2B5EF4-FFF2-40B4-BE49-F238E27FC236}">
                <a16:creationId xmlns:a16="http://schemas.microsoft.com/office/drawing/2014/main" id="{142939C2-CE6F-CCDF-65A7-D3A1BBEA063F}"/>
              </a:ext>
            </a:extLst>
          </p:cNvPr>
          <p:cNvSpPr/>
          <p:nvPr/>
        </p:nvSpPr>
        <p:spPr>
          <a:xfrm>
            <a:off x="2656075" y="4758068"/>
            <a:ext cx="354030" cy="364958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373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C3DF1-B84E-DB62-2C86-320C2EC1A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Inferring implicit 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1908DB-DCE1-803E-B87E-058814E913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For </a:t>
                </a:r>
                <a:r>
                  <a:rPr lang="en-US" dirty="0" err="1"/>
                  <a:t>tDBM</a:t>
                </a:r>
                <a:r>
                  <a:rPr lang="en-US" dirty="0"/>
                  <a:t>, how to infer constraints? </a:t>
                </a:r>
              </a:p>
              <a:p>
                <a:pPr lvl="1"/>
                <a:r>
                  <a:rPr lang="en-US" dirty="0"/>
                  <a:t>DBM saturation? Not enough!</a:t>
                </a:r>
              </a:p>
              <a:p>
                <a:pPr lvl="1"/>
                <a:r>
                  <a:rPr lang="en-US" b="0" dirty="0"/>
                  <a:t>E.g.,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≤3∧2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≤3</m:t>
                    </m:r>
                  </m:oMath>
                </a14:m>
                <a:r>
                  <a:rPr lang="en-US" dirty="0"/>
                  <a:t>. Cannot eliminate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using DBM saturation.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A500"/>
                    </a:solidFill>
                  </a:rPr>
                  <a:t>Resultant rule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𝑏𝑦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≤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𝑑𝑦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𝑒𝑧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≤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𝑔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=</m:t>
                                            </m:r>
                                            <m:func>
                                              <m:func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uncPr>
                                              <m:fNam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>
                                                    <a:latin typeface="Cambria Math" panose="02040503050406030204" pitchFamily="18" charset="0"/>
                                                  </a:rPr>
                                                  <m:t>gcd</m:t>
                                                </m:r>
                                              </m:fName>
                                              <m:e>
                                                <m:d>
                                                  <m:dPr>
                                                    <m:ctrlP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𝑏</m:t>
                                                    </m:r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,</m:t>
                                                    </m:r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𝑑</m:t>
                                                    </m:r>
                                                  </m:e>
                                                </m:d>
                                              </m:e>
                                            </m:func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US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𝜆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=</m:t>
                                                  </m:r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𝑑</m:t>
                                                  </m:r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/</m:t>
                                                  </m:r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𝑔</m:t>
                                                  </m:r>
                                                </m:e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𝜆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2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=</m:t>
                                                  </m:r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/</m:t>
                                                  </m:r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𝑔</m:t>
                                                  </m:r>
                                                  <m:r>
                                                    <m:rPr>
                                                      <m:nor/>
                                                    </m:rPr>
                                                    <a:rPr lang="en-US" dirty="0"/>
                                                    <m:t> </m:t>
                                                  </m: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Example</a:t>
                </a:r>
              </a:p>
              <a:p>
                <a:pPr lvl="1"/>
                <a:r>
                  <a:rPr lang="en-US" dirty="0"/>
                  <a:t>Given: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≤3,  2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≤3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Computes: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1,2</m:t>
                            </m:r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=2,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Derives: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≤9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1908DB-DCE1-803E-B87E-058814E913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2326" r="-1448" b="-1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773CC2-82EB-3503-76D0-174AA0EF3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72BF3-52D2-AC47-A795-455346AC075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4317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D4077-EBCC-4495-543A-5E8E10614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8875D-EE28-F583-74DC-2A1833AC2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did we miss?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4E40F2-C38A-20B3-D4DB-4816B0B7AD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A constraint is not expressible</a:t>
                </a:r>
              </a:p>
              <a:p>
                <a:pPr lvl="1"/>
                <a:r>
                  <a:rPr lang="en-US" dirty="0"/>
                  <a:t>Given a template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1,2,3,9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A </a:t>
                </a:r>
                <a:r>
                  <a:rPr lang="en-US" dirty="0" err="1"/>
                  <a:t>tDBM</a:t>
                </a:r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≤3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≤5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Resultant rule yields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≤20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Extend template?</a:t>
                </a:r>
              </a:p>
              <a:p>
                <a:pPr marL="0" indent="0">
                  <a:buNone/>
                </a:pPr>
                <a:r>
                  <a:rPr lang="en-US" dirty="0"/>
                  <a:t>Not always: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≤20≡3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≤10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We define a </a:t>
                </a:r>
                <a:r>
                  <a:rPr lang="en-US" dirty="0">
                    <a:solidFill>
                      <a:srgbClr val="FFA500"/>
                    </a:solidFill>
                  </a:rPr>
                  <a:t>scaling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rgbClr val="FFA500"/>
                    </a:solidFill>
                  </a:rPr>
                  <a:t>rule</a:t>
                </a:r>
                <a:r>
                  <a:rPr lang="en-US" dirty="0"/>
                  <a:t> for constraint to try make it expressible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𝑏𝑦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m:rPr>
                                    <m:nor/>
                                  </m:rPr>
                                  <a:rPr lang="en-US" dirty="0"/>
                                  <m:t> 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∈</m:t>
                                      </m:r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ℤ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&gt;1</m:t>
                                          </m:r>
                                        </m:sup>
                                      </m:sSup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 | </m:t>
                                            </m:r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US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𝑑</m:t>
                                                  </m:r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 | </m:t>
                                                  </m:r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</m:e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2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n-US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sSup>
                                                          <m:sSupPr>
                                                            <m:ctrlPr>
                                                              <a:rPr lang="en-US" b="0" i="1" smtClean="0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</m:ctrlPr>
                                                          </m:sSupPr>
                                                          <m:e>
                                                            <m:r>
                                                              <m:rPr>
                                                                <m:brk m:alnAt="7"/>
                                                              </m:rPr>
                                                              <a:rPr lang="en-US" b="0" i="1" smtClean="0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𝑎</m:t>
                                                            </m:r>
                                                          </m:e>
                                                          <m:sup>
                                                            <m:r>
                                                              <a:rPr lang="en-US" b="0" i="1" smtClean="0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′</m:t>
                                                            </m:r>
                                                          </m:sup>
                                                        </m:sSup>
                                                        <m:r>
                                                          <m:rPr>
                                                            <m:brk m:alnAt="7"/>
                                                          </m:rPr>
                                                          <a:rPr lang="en-US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=</m:t>
                                                        </m:r>
                                                        <m:r>
                                                          <a:rPr lang="en-US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𝑎</m:t>
                                                        </m:r>
                                                        <m:r>
                                                          <a:rPr lang="en-US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/</m:t>
                                                        </m:r>
                                                        <m:r>
                                                          <a:rPr lang="en-US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𝑑</m:t>
                                                        </m:r>
                                                      </m:e>
                                                      <m:e>
                                                        <m:m>
                                                          <m:mPr>
                                                            <m:mcs>
                                                              <m:mc>
                                                                <m:mcPr>
                                                                  <m:count m:val="2"/>
                                                                  <m:mcJc m:val="center"/>
                                                                </m:mcPr>
                                                              </m:mc>
                                                            </m:mcs>
                                                            <m:ctrlPr>
                                                              <a:rPr lang="en-US" i="1" smtClean="0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</m:ctrlPr>
                                                          </m:mPr>
                                                          <m:mr>
                                                            <m:e>
                                                              <m:sSup>
                                                                <m:sSupPr>
                                                                  <m:ctrlPr>
                                                                    <a:rPr lang="en-US" b="0" i="1" smtClean="0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sSupPr>
                                                                <m:e>
                                                                  <m:r>
                                                                    <m:rPr>
                                                                      <m:brk m:alnAt="7"/>
                                                                    </m:rPr>
                                                                    <a:rPr lang="en-US" b="0" i="1" smtClean="0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𝑏</m:t>
                                                                  </m:r>
                                                                </m:e>
                                                                <m:sup>
                                                                  <m:r>
                                                                    <a:rPr lang="en-US" b="0" i="1" smtClean="0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′</m:t>
                                                                  </m:r>
                                                                </m:sup>
                                                              </m:sSup>
                                                              <m:r>
                                                                <m:rPr>
                                                                  <m:brk m:alnAt="7"/>
                                                                </m:rPr>
                                                                <a:rPr lang="en-US" b="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=</m:t>
                                                              </m:r>
                                                              <m:r>
                                                                <a:rPr lang="en-US" b="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𝑏</m:t>
                                                              </m:r>
                                                              <m:r>
                                                                <a:rPr lang="en-US" b="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/</m:t>
                                                              </m:r>
                                                              <m:r>
                                                                <a:rPr lang="en-US" b="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𝑑</m:t>
                                                              </m:r>
                                                            </m:e>
                                                            <m:e>
                                                              <m:sSup>
                                                                <m:sSupPr>
                                                                  <m:ctrlPr>
                                                                    <a:rPr lang="en-US" b="0" i="1" smtClean="0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sSupPr>
                                                                <m:e>
                                                                  <m:r>
                                                                    <a:rPr lang="en-US" b="0" i="1" smtClean="0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𝑎</m:t>
                                                                  </m:r>
                                                                </m:e>
                                                                <m:sup>
                                                                  <m:r>
                                                                    <a:rPr lang="en-US" b="0" i="1" smtClean="0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′</m:t>
                                                                  </m:r>
                                                                </m:sup>
                                                              </m:sSup>
                                                              <m:r>
                                                                <a:rPr lang="en-US" b="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,</m:t>
                                                              </m:r>
                                                              <m:sSup>
                                                                <m:sSupPr>
                                                                  <m:ctrlPr>
                                                                    <a:rPr lang="en-US" b="0" i="1" smtClean="0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sSupPr>
                                                                <m:e>
                                                                  <m:r>
                                                                    <a:rPr lang="en-US" b="0" i="1" smtClean="0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𝑏</m:t>
                                                                  </m:r>
                                                                </m:e>
                                                                <m:sup>
                                                                  <m:r>
                                                                    <a:rPr lang="en-US" b="0" i="1" smtClean="0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′</m:t>
                                                                  </m:r>
                                                                </m:sup>
                                                              </m:sSup>
                                                              <m:r>
                                                                <a:rPr lang="en-US" b="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∈</m:t>
                                                              </m:r>
                                                              <m:r>
                                                                <a:rPr lang="en-US" b="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𝑇</m:t>
                                                              </m:r>
                                                            </m:e>
                                                          </m:mr>
                                                        </m:m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d>
                            <m:dPr>
                              <m:begChr m:val="⌈"/>
                              <m:endChr m:val="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⌉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d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What if scaling failed?</a:t>
                </a:r>
              </a:p>
              <a:p>
                <a:pPr lvl="1"/>
                <a:r>
                  <a:rPr lang="en-US" dirty="0"/>
                  <a:t>The expressiveness of </a:t>
                </a:r>
                <a:r>
                  <a:rPr lang="en-US" dirty="0" err="1"/>
                  <a:t>tDBM</a:t>
                </a:r>
                <a:r>
                  <a:rPr lang="en-US" dirty="0"/>
                  <a:t> leads to an </a:t>
                </a:r>
                <a:r>
                  <a:rPr lang="en-US" dirty="0">
                    <a:solidFill>
                      <a:srgbClr val="FFA500"/>
                    </a:solidFill>
                  </a:rPr>
                  <a:t>over-approximation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4E40F2-C38A-20B3-D4DB-4816B0B7AD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3488" b="-43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F55D80-FBD6-F33A-80F0-4D315DC88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72BF3-52D2-AC47-A795-455346AC075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8558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C8587-4C2E-0C22-6BD3-52FA4E0D9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tDBM</a:t>
            </a:r>
            <a:r>
              <a:rPr lang="en-US" dirty="0"/>
              <a:t> Saturation (</a:t>
            </a:r>
            <a:r>
              <a:rPr lang="en-US" altLang="zh-CN" dirty="0"/>
              <a:t>[Nelson 78])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55644B-9DE7-257F-1E83-D09AB30FFB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CA" dirty="0"/>
                  <a:t>Generating implicit constraints by </a:t>
                </a:r>
                <a:r>
                  <a:rPr lang="en-US" altLang="zh-CN" dirty="0"/>
                  <a:t>iterating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these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two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steps:</a:t>
                </a:r>
                <a:endParaRPr lang="en-CA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CA" dirty="0"/>
                  <a:t>Select constraint pairs that apply resultant rule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CA" dirty="0"/>
                  <a:t>Update </a:t>
                </a:r>
                <a:r>
                  <a:rPr lang="en-CA" dirty="0" err="1"/>
                  <a:t>tDBM</a:t>
                </a:r>
                <a:r>
                  <a:rPr lang="en-CA" dirty="0"/>
                  <a:t> with new constraints</a:t>
                </a:r>
              </a:p>
              <a:p>
                <a:pPr marL="0" indent="0">
                  <a:buNone/>
                </a:pPr>
                <a:r>
                  <a:rPr lang="en-US" dirty="0"/>
                  <a:t>Wha</a:t>
                </a:r>
                <a:r>
                  <a:rPr lang="en-US" altLang="zh-CN" dirty="0"/>
                  <a:t>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>
                    <a:solidFill>
                      <a:srgbClr val="FFA500"/>
                    </a:solidFill>
                  </a:rPr>
                  <a:t>fixpoint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of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this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procedure?</a:t>
                </a:r>
              </a:p>
              <a:p>
                <a:pPr lvl="1"/>
                <a:r>
                  <a:rPr lang="en-US" altLang="zh-CN" dirty="0"/>
                  <a:t>Given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set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of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TVPI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constraints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with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variables.</a:t>
                </a:r>
              </a:p>
              <a:p>
                <a:pPr lvl="1"/>
                <a:r>
                  <a:rPr lang="en-US" altLang="zh-CN" dirty="0"/>
                  <a:t>Nelson proposed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upper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bound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iterations: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⌉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lg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⁡(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d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CA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For</a:t>
                </a:r>
                <a:r>
                  <a:rPr lang="zh-CN" altLang="en-US" dirty="0"/>
                  <a:t> </a:t>
                </a:r>
                <a:r>
                  <a:rPr lang="en-US" dirty="0" err="1"/>
                  <a:t>tDBM</a:t>
                </a:r>
                <a:r>
                  <a:rPr lang="en-US" altLang="zh-CN" dirty="0"/>
                  <a:t>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we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apply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resultant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and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scaling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together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to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keep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implicit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constraint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many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possible.</a:t>
                </a:r>
                <a:endParaRPr lang="en-CA" altLang="zh-CN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55644B-9DE7-257F-1E83-D09AB30FFB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A734B-D648-A254-6658-DA905C1C8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72BF3-52D2-AC47-A795-455346AC0757}" type="slidenum">
              <a:rPr lang="en-US" smtClean="0"/>
              <a:t>16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B0735D5-903B-9637-2732-049C9BB9A8E7}"/>
                  </a:ext>
                </a:extLst>
              </p:cNvPr>
              <p:cNvSpPr txBox="1"/>
              <p:nvPr/>
            </p:nvSpPr>
            <p:spPr>
              <a:xfrm>
                <a:off x="2114814" y="5571092"/>
                <a:ext cx="7700698" cy="60587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[Nelson 78]: Nelson, Charles Gregory: </a:t>
                </a:r>
                <a:r>
                  <a:rPr lang="en-CA" sz="1600" dirty="0"/>
                  <a:t>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func>
                          <m:func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sup>
                    </m:sSup>
                  </m:oMath>
                </a14:m>
                <a:r>
                  <a:rPr lang="en-CA" sz="1600" dirty="0"/>
                  <a:t> algorithm for the two-variable-per-constraint linear programming satisfiability problem</a:t>
                </a:r>
                <a:endParaRPr lang="en-US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B0735D5-903B-9637-2732-049C9BB9A8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4814" y="5571092"/>
                <a:ext cx="7700698" cy="605871"/>
              </a:xfrm>
              <a:prstGeom prst="rect">
                <a:avLst/>
              </a:prstGeom>
              <a:blipFill>
                <a:blip r:embed="rId4"/>
                <a:stretch>
                  <a:fillRect l="-329" b="-1020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75522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A3FE0-FABC-B367-3233-F2A17A88A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B4913-7C6B-14FF-227E-4564A27BE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Deriving implicit constraints (DBM ver.)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5320BC-1AB8-FA1B-64C7-ADEAFDC8A5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tDBM is a DBM, can we leverage its saturation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algorithm? </a:t>
                </a:r>
              </a:p>
              <a:p>
                <a:pPr marL="0" indent="0">
                  <a:buNone/>
                </a:pPr>
                <a:endParaRPr lang="en-CA" dirty="0"/>
              </a:p>
              <a:p>
                <a:pPr marL="0" indent="0">
                  <a:buNone/>
                </a:pPr>
                <a:r>
                  <a:rPr lang="en-CA" dirty="0"/>
                  <a:t>Constraint pair selection splits into two parts:</a:t>
                </a:r>
              </a:p>
              <a:p>
                <a:pPr marL="971550" lvl="1" indent="-514350">
                  <a:buFont typeface="+mj-lt"/>
                  <a:buAutoNum type="romanLcPeriod"/>
                </a:pP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US" i="1" dirty="0" err="1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en-US" dirty="0"/>
                  <a:t>):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∧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𝑑𝑦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𝑒𝑧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groupChr>
                      <m:groupChrPr>
                        <m:chr m:val="⇒"/>
                        <m:vertJc m:val="bot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sty m:val="p"/>
                            <m:brk m:alnAt="2"/>
                          </m:rPr>
                          <a:rPr lang="en-US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esultant</m:t>
                        </m:r>
                        <m:r>
                          <a:rPr lang="en-US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Scaling</m:t>
                        </m:r>
                      </m:e>
                    </m:groupCh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914400" lvl="1" indent="-457200">
                  <a:buFont typeface="+mj-lt"/>
                  <a:buAutoNum type="romanLcPeriod"/>
                </a:pP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):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∧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𝑑𝑦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𝑒𝑧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groupChr>
                      <m:groupChrPr>
                        <m:chr m:val="⇒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DBM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Saturation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𝑒𝑧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5320BC-1AB8-FA1B-64C7-ADEAFDC8A5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93780-B284-4ECD-D821-541007B62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72BF3-52D2-AC47-A795-455346AC0757}" type="slidenum">
              <a:rPr lang="en-US" smtClean="0"/>
              <a:t>17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BDCD0D-E5A6-92D2-2742-D2C844ED1357}"/>
              </a:ext>
            </a:extLst>
          </p:cNvPr>
          <p:cNvSpPr txBox="1"/>
          <p:nvPr/>
        </p:nvSpPr>
        <p:spPr>
          <a:xfrm>
            <a:off x="9576413" y="1906135"/>
            <a:ext cx="63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✅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437282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776CB-B855-4D52-2796-D29A156FC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Deriving implicit constraints</a:t>
            </a:r>
            <a:r>
              <a:rPr lang="zh-CN" altLang="en-US" dirty="0"/>
              <a:t> </a:t>
            </a:r>
            <a:r>
              <a:rPr lang="en-US" altLang="zh-CN" dirty="0"/>
              <a:t>(Example)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79DBD-3900-7D26-327F-44FE91D4A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72BF3-52D2-AC47-A795-455346AC0757}" type="slidenum">
              <a:rPr lang="en-US" smtClean="0"/>
              <a:pPr/>
              <a:t>18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8E4A43A-1B42-49BA-9BBB-5F385E11FCAE}"/>
                  </a:ext>
                </a:extLst>
              </p:cNvPr>
              <p:cNvSpPr txBox="1"/>
              <p:nvPr/>
            </p:nvSpPr>
            <p:spPr>
              <a:xfrm>
                <a:off x="1067636" y="1746448"/>
                <a:ext cx="2195024" cy="92333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m:t>offset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𝑖𝑑𝑥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m:t>size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𝑙𝑒𝑛</m:t>
                      </m:r>
                    </m:oMath>
                    <m:oMath xmlns:m="http://schemas.openxmlformats.org/officeDocument/2006/math"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0≤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𝑖𝑑𝑥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𝑙𝑒𝑛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8E4A43A-1B42-49BA-9BBB-5F385E11FC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636" y="1746448"/>
                <a:ext cx="2195024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39BB15-9415-CDEB-2C6C-E968A1CF8F02}"/>
                  </a:ext>
                </a:extLst>
              </p:cNvPr>
              <p:cNvSpPr txBox="1"/>
              <p:nvPr/>
            </p:nvSpPr>
            <p:spPr>
              <a:xfrm>
                <a:off x="486195" y="3155175"/>
                <a:ext cx="3357907" cy="230832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UTVPI: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𝑖𝑑𝑥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≤0</m:t>
                      </m:r>
                    </m:oMath>
                  </m:oMathPara>
                </a14:m>
                <a:endParaRPr lang="en-US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𝑖𝑑𝑥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𝑙𝑒𝑛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≤−1</m:t>
                      </m:r>
                    </m:oMath>
                  </m:oMathPara>
                </a14:m>
                <a:endParaRPr lang="en-US" dirty="0"/>
              </a:p>
              <a:p>
                <a:r>
                  <a:rPr lang="en-CA" dirty="0"/>
                  <a:t>TVPI: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m:t>offset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m:t>4</m:t>
                      </m:r>
                      <m:r>
                        <m:rPr>
                          <m:nor/>
                        </m:rPr>
                        <a:rPr lang="en-US" b="0" i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m:t>idx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≤0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m:t>4</m:t>
                      </m:r>
                      <m:r>
                        <m:rPr>
                          <m:nor/>
                        </m:rP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m:t>idx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m:t>offset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≤0</m:t>
                      </m:r>
                    </m:oMath>
                  </m:oMathPara>
                </a14:m>
                <a:endParaRPr lang="en-US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m:t>size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m:t>4</m:t>
                      </m:r>
                      <m:r>
                        <m:rPr>
                          <m:nor/>
                        </m:rPr>
                        <a:rPr lang="en-US" b="0" i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m:t>l</m:t>
                      </m:r>
                      <m:r>
                        <m:rPr>
                          <m:nor/>
                        </m:rPr>
                        <a:rPr lang="en-US" b="0" i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b="0" i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m:t>len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≤0</m:t>
                      </m:r>
                    </m:oMath>
                  </m:oMathPara>
                </a14:m>
                <a:endParaRPr lang="en-US" b="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m:t>4</m:t>
                      </m:r>
                      <m:r>
                        <m:rPr>
                          <m:nor/>
                        </m:rP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m:t>l</m:t>
                      </m:r>
                      <m:r>
                        <m:rPr>
                          <m:nor/>
                        </m:rP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m:t>len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m:t>size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≤0</m:t>
                      </m:r>
                    </m:oMath>
                  </m:oMathPara>
                </a14:m>
                <a:endParaRPr lang="en-US" b="0" i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39BB15-9415-CDEB-2C6C-E968A1CF8F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195" y="3155175"/>
                <a:ext cx="3357907" cy="2308324"/>
              </a:xfrm>
              <a:prstGeom prst="rect">
                <a:avLst/>
              </a:prstGeom>
              <a:blipFill>
                <a:blip r:embed="rId4"/>
                <a:stretch>
                  <a:fillRect l="-1509" t="-10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5C5AB02-7A11-2569-8A91-96959B34B816}"/>
                  </a:ext>
                </a:extLst>
              </p:cNvPr>
              <p:cNvSpPr txBox="1"/>
              <p:nvPr/>
            </p:nvSpPr>
            <p:spPr>
              <a:xfrm>
                <a:off x="7156720" y="4494927"/>
                <a:ext cx="4089240" cy="4741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⇒"/>
                          <m:vertJc m:val="bot"/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DBM</m:t>
                          </m:r>
                          <m:r>
                            <a:rPr lang="en-US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Saturation</m:t>
                          </m:r>
                        </m:e>
                      </m:groupChr>
                      <m:r>
                        <a:rPr lang="en-CA" sz="18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CA" sz="18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m:t>offset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𝑠𝑖𝑧𝑒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≤−4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5C5AB02-7A11-2569-8A91-96959B34B8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6720" y="4494927"/>
                <a:ext cx="4089240" cy="474104"/>
              </a:xfrm>
              <a:prstGeom prst="rect">
                <a:avLst/>
              </a:prstGeom>
              <a:blipFill>
                <a:blip r:embed="rId5"/>
                <a:stretch>
                  <a:fillRect b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6C0EDA5-54AE-8AEB-BCD6-9B1DF1577335}"/>
                  </a:ext>
                </a:extLst>
              </p:cNvPr>
              <p:cNvSpPr txBox="1"/>
              <p:nvPr/>
            </p:nvSpPr>
            <p:spPr>
              <a:xfrm>
                <a:off x="4120150" y="3831834"/>
                <a:ext cx="4366260" cy="4775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⇒"/>
                          <m:vertJc m:val="bot"/>
                          <m:ctrlPr>
                            <a:rPr 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sty m:val="p"/>
                              <m:brk m:alnAt="2"/>
                            </m:rPr>
                            <a:rPr lang="en-US" sz="18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</m:t>
                          </m:r>
                          <m:r>
                            <m:rPr>
                              <m:sty m:val="p"/>
                            </m:rPr>
                            <a:rPr lang="en-US" sz="18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esultant</m:t>
                          </m:r>
                          <m:r>
                            <a:rPr lang="en-US" sz="18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18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Scaling</m:t>
                          </m:r>
                        </m:e>
                      </m:groupChr>
                      <m:r>
                        <a:rPr lang="en-CA" sz="18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CA" sz="18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m:t>offset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1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m:t>4</m:t>
                      </m:r>
                      <m:r>
                        <m:rPr>
                          <m:nor/>
                        </m:rPr>
                        <a:rPr lang="en-US" sz="1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m:t>l</m:t>
                      </m:r>
                      <m:r>
                        <m:rPr>
                          <m:nor/>
                        </m:rPr>
                        <a:rPr lang="en-US" sz="1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sz="1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m:t>len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6C0EDA5-54AE-8AEB-BCD6-9B1DF15773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0150" y="3831834"/>
                <a:ext cx="4366260" cy="477503"/>
              </a:xfrm>
              <a:prstGeom prst="rect">
                <a:avLst/>
              </a:prstGeom>
              <a:blipFill>
                <a:blip r:embed="rId6"/>
                <a:stretch>
                  <a:fillRect b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EE33841-6577-FA57-9921-FDB643F0A050}"/>
                  </a:ext>
                </a:extLst>
              </p:cNvPr>
              <p:cNvSpPr txBox="1"/>
              <p:nvPr/>
            </p:nvSpPr>
            <p:spPr>
              <a:xfrm>
                <a:off x="8414351" y="5477992"/>
                <a:ext cx="2831609" cy="3693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m:t>offset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+4≤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m:t>size</m:t>
                      </m:r>
                    </m:oMath>
                  </m:oMathPara>
                </a14:m>
                <a:br>
                  <a:rPr lang="en-US" b="0" dirty="0"/>
                </a:br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EE33841-6577-FA57-9921-FDB643F0A0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4351" y="5477992"/>
                <a:ext cx="2831609" cy="369397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Up Arrow 12">
            <a:extLst>
              <a:ext uri="{FF2B5EF4-FFF2-40B4-BE49-F238E27FC236}">
                <a16:creationId xmlns:a16="http://schemas.microsoft.com/office/drawing/2014/main" id="{A383A291-BD80-70A4-311A-A43C7BB92059}"/>
              </a:ext>
            </a:extLst>
          </p:cNvPr>
          <p:cNvSpPr/>
          <p:nvPr/>
        </p:nvSpPr>
        <p:spPr>
          <a:xfrm rot="3864189">
            <a:off x="3652834" y="3999623"/>
            <a:ext cx="342671" cy="492224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Up Arrow 13">
            <a:extLst>
              <a:ext uri="{FF2B5EF4-FFF2-40B4-BE49-F238E27FC236}">
                <a16:creationId xmlns:a16="http://schemas.microsoft.com/office/drawing/2014/main" id="{F0902C99-0B8A-1530-9754-1BDACAA395B2}"/>
              </a:ext>
            </a:extLst>
          </p:cNvPr>
          <p:cNvSpPr/>
          <p:nvPr/>
        </p:nvSpPr>
        <p:spPr>
          <a:xfrm rot="5400000">
            <a:off x="3650319" y="3648396"/>
            <a:ext cx="342671" cy="492224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Up Arrow 14">
            <a:extLst>
              <a:ext uri="{FF2B5EF4-FFF2-40B4-BE49-F238E27FC236}">
                <a16:creationId xmlns:a16="http://schemas.microsoft.com/office/drawing/2014/main" id="{DC44F6F7-D30F-047F-7725-6B0D8E585B5F}"/>
              </a:ext>
            </a:extLst>
          </p:cNvPr>
          <p:cNvSpPr/>
          <p:nvPr/>
        </p:nvSpPr>
        <p:spPr>
          <a:xfrm rot="7499849">
            <a:off x="6759862" y="4182962"/>
            <a:ext cx="342671" cy="492224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Up Arrow 15">
            <a:extLst>
              <a:ext uri="{FF2B5EF4-FFF2-40B4-BE49-F238E27FC236}">
                <a16:creationId xmlns:a16="http://schemas.microsoft.com/office/drawing/2014/main" id="{E442C1E6-0FF2-FCB7-057B-10C897411099}"/>
              </a:ext>
            </a:extLst>
          </p:cNvPr>
          <p:cNvSpPr/>
          <p:nvPr/>
        </p:nvSpPr>
        <p:spPr>
          <a:xfrm rot="4945716">
            <a:off x="5395492" y="3476306"/>
            <a:ext cx="362445" cy="3139628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C512E3AE-F932-B1E6-6E25-72B4FE992139}"/>
              </a:ext>
            </a:extLst>
          </p:cNvPr>
          <p:cNvSpPr/>
          <p:nvPr/>
        </p:nvSpPr>
        <p:spPr>
          <a:xfrm rot="16200000" flipH="1">
            <a:off x="9394898" y="4938659"/>
            <a:ext cx="474099" cy="429215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31C7BB79-374C-9BC7-985E-0993361456BD}"/>
              </a:ext>
            </a:extLst>
          </p:cNvPr>
          <p:cNvSpPr/>
          <p:nvPr/>
        </p:nvSpPr>
        <p:spPr>
          <a:xfrm rot="5400000">
            <a:off x="1988133" y="2733313"/>
            <a:ext cx="354030" cy="364958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73C6796-FFDE-05B5-D16C-7D6F1183A147}"/>
              </a:ext>
            </a:extLst>
          </p:cNvPr>
          <p:cNvCxnSpPr>
            <a:cxnSpLocks/>
          </p:cNvCxnSpPr>
          <p:nvPr/>
        </p:nvCxnSpPr>
        <p:spPr>
          <a:xfrm>
            <a:off x="1376230" y="5121370"/>
            <a:ext cx="195805" cy="314667"/>
          </a:xfrm>
          <a:prstGeom prst="line">
            <a:avLst/>
          </a:prstGeom>
          <a:ln w="666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6DA8719-571B-6961-12D3-E33A3A2477A0}"/>
              </a:ext>
            </a:extLst>
          </p:cNvPr>
          <p:cNvCxnSpPr>
            <a:cxnSpLocks/>
          </p:cNvCxnSpPr>
          <p:nvPr/>
        </p:nvCxnSpPr>
        <p:spPr>
          <a:xfrm>
            <a:off x="2451052" y="4245735"/>
            <a:ext cx="195805" cy="314667"/>
          </a:xfrm>
          <a:prstGeom prst="line">
            <a:avLst/>
          </a:prstGeom>
          <a:ln w="666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C03071F-2136-6BC1-01F0-2DB72FC2B9D8}"/>
              </a:ext>
            </a:extLst>
          </p:cNvPr>
          <p:cNvCxnSpPr>
            <a:cxnSpLocks/>
          </p:cNvCxnSpPr>
          <p:nvPr/>
        </p:nvCxnSpPr>
        <p:spPr>
          <a:xfrm>
            <a:off x="7283458" y="3942136"/>
            <a:ext cx="195805" cy="314667"/>
          </a:xfrm>
          <a:prstGeom prst="line">
            <a:avLst/>
          </a:prstGeom>
          <a:ln w="666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8E7F04A-1FA4-FAEF-DBEF-A8956240549D}"/>
              </a:ext>
            </a:extLst>
          </p:cNvPr>
          <p:cNvCxnSpPr>
            <a:cxnSpLocks/>
          </p:cNvCxnSpPr>
          <p:nvPr/>
        </p:nvCxnSpPr>
        <p:spPr>
          <a:xfrm>
            <a:off x="1389155" y="3723172"/>
            <a:ext cx="195805" cy="314667"/>
          </a:xfrm>
          <a:prstGeom prst="line">
            <a:avLst/>
          </a:prstGeom>
          <a:ln w="666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16B894E-4A11-0B22-72DD-72F4B520618F}"/>
                  </a:ext>
                </a:extLst>
              </p:cNvPr>
              <p:cNvSpPr txBox="1"/>
              <p:nvPr/>
            </p:nvSpPr>
            <p:spPr>
              <a:xfrm>
                <a:off x="4120150" y="1723492"/>
                <a:ext cx="7647543" cy="8592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971550" lvl="1" indent="-514350">
                  <a:buFont typeface="+mj-lt"/>
                  <a:buAutoNum type="romanLcPeriod"/>
                </a:pP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US" i="1" dirty="0" err="1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en-US" dirty="0"/>
                  <a:t>):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∧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𝑑𝑦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𝑒𝑧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groupChr>
                      <m:groupChrPr>
                        <m:chr m:val="⇒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sty m:val="p"/>
                            <m:brk m:alnAt="2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esultant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Scaling</m:t>
                        </m:r>
                      </m:e>
                    </m:groupCh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914400" lvl="1" indent="-457200">
                  <a:buFont typeface="+mj-lt"/>
                  <a:buAutoNum type="romanLcPeriod"/>
                </a:pP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):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∧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𝑑𝑦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𝑒𝑧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groupChr>
                      <m:groupChrPr>
                        <m:chr m:val="⇒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DBM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Saturation</m:t>
                        </m:r>
                      </m:e>
                    </m:groupCh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𝑒𝑧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16B894E-4A11-0B22-72DD-72F4B5206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0150" y="1723492"/>
                <a:ext cx="7647543" cy="859274"/>
              </a:xfrm>
              <a:prstGeom prst="rect">
                <a:avLst/>
              </a:prstGeom>
              <a:blipFill>
                <a:blip r:embed="rId8"/>
                <a:stretch>
                  <a:fillRect b="-10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0639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3" grpId="0" animBg="1"/>
      <p:bldP spid="14" grpId="0" animBg="1"/>
      <p:bldP spid="15" grpId="0" animBg="1"/>
      <p:bldP spid="16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198B0-C4F1-01A1-65E5-757A5DAEE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tDBM</a:t>
            </a:r>
            <a:r>
              <a:rPr lang="en-US" dirty="0"/>
              <a:t> Saturation (DBM ver.)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212BBE-7207-F917-4935-03BC5D21C6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CA" dirty="0"/>
                  <a:t>Generating implicit constraints by </a:t>
                </a:r>
                <a:r>
                  <a:rPr lang="en-US" altLang="zh-CN" dirty="0"/>
                  <a:t>iterating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these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three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steps:</a:t>
                </a:r>
                <a:endParaRPr lang="en-CA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Apply resultant + scaling rules for </a:t>
                </a:r>
                <a:r>
                  <a:rPr lang="en-US" dirty="0">
                    <a:solidFill>
                      <a:srgbClr val="FFA500"/>
                    </a:solidFill>
                  </a:rPr>
                  <a:t>the case of aligning coefficients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CA" dirty="0"/>
                  <a:t>Apply </a:t>
                </a:r>
                <a:r>
                  <a:rPr lang="en-CA" dirty="0">
                    <a:solidFill>
                      <a:srgbClr val="FFA500"/>
                    </a:solidFill>
                  </a:rPr>
                  <a:t>DBM saturation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CA" dirty="0"/>
                  <a:t>Update DBM with new constraints</a:t>
                </a:r>
              </a:p>
              <a:p>
                <a:pPr marL="0" indent="0">
                  <a:buNone/>
                </a:pPr>
                <a:r>
                  <a:rPr lang="en-US" dirty="0"/>
                  <a:t>The fixpoint still follows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⌉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lg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⁡(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CA" altLang="zh-CN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A500"/>
                    </a:solidFill>
                  </a:rPr>
                  <a:t>Benefits</a:t>
                </a:r>
                <a:r>
                  <a:rPr lang="en-US" dirty="0"/>
                  <a:t> of this procedure:</a:t>
                </a:r>
              </a:p>
              <a:p>
                <a:pPr lvl="1">
                  <a:buFont typeface="Wingdings" pitchFamily="2" charset="2"/>
                  <a:buChar char="ü"/>
                </a:pPr>
                <a:r>
                  <a:rPr lang="en-US" dirty="0"/>
                  <a:t>The coefficient template in practice is small.</a:t>
                </a:r>
              </a:p>
              <a:p>
                <a:pPr lvl="1">
                  <a:buFont typeface="Wingdings" pitchFamily="2" charset="2"/>
                  <a:buChar char="ü"/>
                </a:pPr>
                <a:r>
                  <a:rPr lang="en-US" dirty="0"/>
                  <a:t>Leverage the implementation of DBM saturation.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212BBE-7207-F917-4935-03BC5D21C6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C41405-12F3-257D-3B01-D09D1B505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72BF3-52D2-AC47-A795-455346AC0757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73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48DB4-69F0-6819-C0EE-31960F4D6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5053D-5E5E-0FCA-66C7-D2B5F2121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Road 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51247-0C12-A647-60DE-A900E90C5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Motivation</a:t>
            </a:r>
          </a:p>
          <a:p>
            <a:pPr marL="0" indent="0">
              <a:buNone/>
            </a:pPr>
            <a:r>
              <a:rPr lang="en-US" dirty="0"/>
              <a:t>Background</a:t>
            </a:r>
          </a:p>
          <a:p>
            <a:pPr lvl="1"/>
            <a:r>
              <a:rPr lang="en-US" dirty="0"/>
              <a:t>Zones as a Difference Bound Matrix (DBM)</a:t>
            </a:r>
          </a:p>
          <a:p>
            <a:pPr marL="0" indent="0">
              <a:buNone/>
            </a:pPr>
            <a:r>
              <a:rPr lang="en-US" dirty="0"/>
              <a:t>Contributions</a:t>
            </a:r>
          </a:p>
          <a:p>
            <a:pPr lvl="1"/>
            <a:r>
              <a:rPr lang="en-US" dirty="0"/>
              <a:t>Extending DBM</a:t>
            </a:r>
          </a:p>
          <a:p>
            <a:pPr lvl="1"/>
            <a:r>
              <a:rPr lang="en-US" dirty="0">
                <a:solidFill>
                  <a:srgbClr val="FFA500"/>
                </a:solidFill>
              </a:rPr>
              <a:t>A domain of TVPI constraints with templates</a:t>
            </a:r>
          </a:p>
          <a:p>
            <a:pPr lvl="1"/>
            <a:r>
              <a:rPr lang="en-US" dirty="0"/>
              <a:t>Implementation and Experiments</a:t>
            </a:r>
          </a:p>
          <a:p>
            <a:pPr marL="0" indent="0">
              <a:buNone/>
            </a:pPr>
            <a:r>
              <a:rPr lang="en-US" dirty="0"/>
              <a:t>Conclusion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65D8AE-E550-B13E-6FDD-B81319DBF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72BF3-52D2-AC47-A795-455346AC075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6475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9707D-2C62-7C8B-9E5B-5D5078866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Template DBM Abstract Domain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5DED7F-F11A-74A4-A38D-1FE91CEBF2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A</a:t>
                </a:r>
                <a:r>
                  <a:rPr lang="zh-CN" altLang="en-US" dirty="0"/>
                  <a:t> </a:t>
                </a:r>
                <a:r>
                  <a:rPr lang="en-CA" dirty="0"/>
                  <a:t>new numerical domain for (a subset of) TVPI constraints</a:t>
                </a:r>
                <a:endParaRPr lang="en-CA" altLang="zh-CN" dirty="0"/>
              </a:p>
              <a:p>
                <a:pPr lvl="1"/>
                <a:r>
                  <a:rPr lang="en-US" altLang="zh-CN" dirty="0">
                    <a:solidFill>
                      <a:srgbClr val="FFA500"/>
                    </a:solidFill>
                  </a:rPr>
                  <a:t>Expressiveness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more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than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Zones,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but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less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than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TVPI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domain</a:t>
                </a:r>
              </a:p>
              <a:p>
                <a:pPr lvl="1"/>
                <a:r>
                  <a:rPr lang="en-US" altLang="zh-CN" dirty="0"/>
                  <a:t>E.g.,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≤3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TVPI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constraint,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but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we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cannot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represent</a:t>
                </a:r>
              </a:p>
              <a:p>
                <a:pPr marL="0" indent="0">
                  <a:buNone/>
                </a:pPr>
                <a:r>
                  <a:rPr lang="en-US" dirty="0"/>
                  <a:t>Representation for domain element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Using a </a:t>
                </a:r>
                <a:r>
                  <a:rPr lang="en-US" dirty="0" err="1"/>
                  <a:t>tDBM</a:t>
                </a:r>
                <a:r>
                  <a:rPr lang="en-US" dirty="0"/>
                  <a:t> to represent constraints</a:t>
                </a:r>
              </a:p>
              <a:p>
                <a:pPr lvl="1"/>
                <a:r>
                  <a:rPr lang="en-US" dirty="0">
                    <a:solidFill>
                      <a:srgbClr val="FFA500"/>
                    </a:solidFill>
                  </a:rPr>
                  <a:t>Concretization</a:t>
                </a:r>
                <a:r>
                  <a:rPr lang="en-US" dirty="0"/>
                  <a:t>: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ℤ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| ∀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1,…,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lvl="2"/>
                <a:r>
                  <a:rPr lang="en-US" dirty="0"/>
                  <a:t>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represents a value for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/>
                  <a:t> refers a TVPI constraint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5DED7F-F11A-74A4-A38D-1FE91CEBF2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69581-E1AD-0D60-96A0-194802634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72BF3-52D2-AC47-A795-455346AC075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851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6978F-7235-6C98-B1E6-2CF0FA2D9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Domain Operations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59B577-6732-F496-19CE-CD3DA1ED51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pPr marL="0" indent="0">
                  <a:buNone/>
                </a:pPr>
                <a:r>
                  <a:rPr lang="en-US" altLang="zh-CN" sz="4500" dirty="0"/>
                  <a:t>Emptiness test</a:t>
                </a:r>
              </a:p>
              <a:p>
                <a:pPr lvl="1"/>
                <a:r>
                  <a:rPr lang="en-US" altLang="zh-CN" sz="3800" dirty="0"/>
                  <a:t>If a </a:t>
                </a:r>
                <a:r>
                  <a:rPr lang="en-US" altLang="zh-CN" sz="3800" dirty="0" err="1"/>
                  <a:t>tDBM</a:t>
                </a:r>
                <a:r>
                  <a:rPr lang="en-US" altLang="zh-CN" sz="3800" dirty="0"/>
                  <a:t> is </a:t>
                </a:r>
                <a:r>
                  <a:rPr lang="en-US" altLang="zh-CN" sz="3800" dirty="0" err="1"/>
                  <a:t>UNSATisfiable</a:t>
                </a:r>
                <a:r>
                  <a:rPr lang="en-US" altLang="zh-CN" sz="3800" dirty="0"/>
                  <a:t>, applying saturation will produce a </a:t>
                </a:r>
                <a:r>
                  <a:rPr lang="en-US" altLang="zh-CN" sz="3800" dirty="0">
                    <a:solidFill>
                      <a:srgbClr val="FFA500"/>
                    </a:solidFill>
                  </a:rPr>
                  <a:t>contradiction</a:t>
                </a:r>
                <a:r>
                  <a:rPr lang="en-US" altLang="zh-CN" sz="3800" dirty="0"/>
                  <a:t>.</a:t>
                </a:r>
              </a:p>
              <a:p>
                <a:pPr lvl="1"/>
                <a:r>
                  <a:rPr lang="en-US" altLang="zh-CN" sz="3800" dirty="0"/>
                  <a:t>Since a </a:t>
                </a:r>
                <a:r>
                  <a:rPr lang="en-US" altLang="zh-CN" sz="3800" dirty="0" err="1"/>
                  <a:t>tDBM</a:t>
                </a:r>
                <a:r>
                  <a:rPr lang="en-US" altLang="zh-CN" sz="3800" dirty="0"/>
                  <a:t> is DBM, after saturation, we simply check if a case like this occurs:</a:t>
                </a:r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≤3 ∧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≤−8</m:t>
                      </m:r>
                      <m:r>
                        <a:rPr lang="en-US" altLang="zh-CN" sz="3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⇒0≤−5</m:t>
                      </m:r>
                    </m:oMath>
                  </m:oMathPara>
                </a14:m>
                <a:endParaRPr lang="en-US" altLang="zh-CN" sz="3200" dirty="0"/>
              </a:p>
              <a:p>
                <a:pPr marL="0" indent="0">
                  <a:buNone/>
                </a:pPr>
                <a:br>
                  <a:rPr lang="en-US" altLang="zh-CN" dirty="0"/>
                </a:br>
                <a:r>
                  <a:rPr lang="en-US" altLang="zh-CN" sz="4400" dirty="0"/>
                  <a:t>Inclusion</a:t>
                </a:r>
                <a:r>
                  <a:rPr lang="zh-CN" altLang="en-US" sz="4400" dirty="0"/>
                  <a:t> </a:t>
                </a:r>
                <a:r>
                  <a:rPr lang="en-US" altLang="zh-CN" sz="4400" dirty="0"/>
                  <a:t>test (Order),</a:t>
                </a:r>
                <a:r>
                  <a:rPr lang="zh-CN" altLang="en-US" sz="4400" dirty="0"/>
                  <a:t> </a:t>
                </a:r>
                <a:r>
                  <a:rPr lang="en-US" altLang="zh-CN" sz="4400" dirty="0"/>
                  <a:t>Meet,</a:t>
                </a:r>
                <a:r>
                  <a:rPr lang="zh-CN" altLang="en-US" sz="4400" dirty="0"/>
                  <a:t> </a:t>
                </a:r>
                <a:r>
                  <a:rPr lang="en-US" altLang="zh-CN" sz="4400" dirty="0"/>
                  <a:t>Join, Widening</a:t>
                </a:r>
              </a:p>
              <a:p>
                <a:pPr lvl="1"/>
                <a:r>
                  <a:rPr lang="en-US" altLang="zh-CN" sz="3300" dirty="0"/>
                  <a:t>Use</a:t>
                </a:r>
                <a:r>
                  <a:rPr lang="zh-CN" altLang="en-US" sz="3300" dirty="0"/>
                  <a:t> </a:t>
                </a:r>
                <a:r>
                  <a:rPr lang="en-US" altLang="zh-CN" sz="3300" dirty="0"/>
                  <a:t>DBM</a:t>
                </a:r>
                <a:r>
                  <a:rPr lang="zh-CN" altLang="en-US" sz="3300" dirty="0"/>
                  <a:t> </a:t>
                </a:r>
                <a:r>
                  <a:rPr lang="en-US" altLang="zh-CN" sz="3300" dirty="0"/>
                  <a:t>operations</a:t>
                </a:r>
              </a:p>
              <a:p>
                <a:pPr marL="0" indent="0">
                  <a:buNone/>
                </a:pPr>
                <a:endParaRPr lang="en-US" altLang="zh-CN" sz="2000" dirty="0"/>
              </a:p>
              <a:p>
                <a:pPr marL="0" indent="0">
                  <a:buNone/>
                </a:pPr>
                <a:r>
                  <a:rPr lang="en-US" altLang="zh-CN" sz="4400" dirty="0"/>
                  <a:t>Transfer function</a:t>
                </a:r>
              </a:p>
              <a:p>
                <a:r>
                  <a:rPr lang="en-US" altLang="zh-CN" sz="4400" dirty="0"/>
                  <a:t>Assignment: </a:t>
                </a:r>
                <a14:m>
                  <m:oMath xmlns:m="http://schemas.openxmlformats.org/officeDocument/2006/math">
                    <m:r>
                      <a:rPr lang="en-US" altLang="zh-CN" sz="4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4400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altLang="zh-CN" sz="4400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lang="en-US" altLang="zh-CN" sz="4400" b="0" dirty="0"/>
              </a:p>
              <a:p>
                <a:pPr lvl="1"/>
                <a:r>
                  <a:rPr lang="en-CA" sz="3300" dirty="0"/>
                  <a:t>Transform into a set of TVPI constraints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CA" sz="29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9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sz="2900" i="1" dirty="0" smtClean="0">
                        <a:latin typeface="Cambria Math" panose="02040503050406030204" pitchFamily="18" charset="0"/>
                      </a:rPr>
                      <m:t>:=2</m:t>
                    </m:r>
                    <m:r>
                      <a:rPr lang="en-CA" sz="29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CA" sz="2900" i="1" dirty="0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CA" sz="290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CA" sz="29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CA" sz="2900" dirty="0"/>
              </a:p>
              <a:p>
                <a:pPr lvl="2"/>
                <a:r>
                  <a:rPr lang="en-CA" sz="2900" dirty="0"/>
                  <a:t>tDBM knows </a:t>
                </a:r>
                <a14:m>
                  <m:oMath xmlns:m="http://schemas.openxmlformats.org/officeDocument/2006/math">
                    <m:r>
                      <a:rPr lang="en-US" sz="29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900" b="0" i="1" smtClean="0">
                        <a:latin typeface="Cambria Math" panose="02040503050406030204" pitchFamily="18" charset="0"/>
                      </a:rPr>
                      <m:t>≤3</m:t>
                    </m:r>
                  </m:oMath>
                </a14:m>
                <a:endParaRPr lang="en-US" sz="2900" b="0" dirty="0"/>
              </a:p>
              <a:p>
                <a:pPr lvl="2"/>
                <a:r>
                  <a:rPr lang="en-US" sz="2900" dirty="0" err="1"/>
                  <a:t>tDBM</a:t>
                </a:r>
                <a:r>
                  <a:rPr lang="en-US" sz="2900" dirty="0"/>
                  <a:t> is safe to add </a:t>
                </a:r>
                <a14:m>
                  <m:oMath xmlns:m="http://schemas.openxmlformats.org/officeDocument/2006/math">
                    <m:r>
                      <a:rPr lang="en-US" sz="29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≤3</m:t>
                    </m:r>
                  </m:oMath>
                </a14:m>
                <a:endParaRPr lang="en-US" sz="2900" b="0" dirty="0"/>
              </a:p>
              <a:p>
                <a:pPr lvl="2"/>
                <a:r>
                  <a:rPr lang="en-CA" sz="2900" dirty="0"/>
                  <a:t>Details can be found in the </a:t>
                </a:r>
                <a:r>
                  <a:rPr lang="en-US" sz="2900" dirty="0"/>
                  <a:t>Section 4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59B577-6732-F496-19CE-CD3DA1ED51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5" t="-3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3FEBA-9956-71F2-0187-56EC91696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72BF3-52D2-AC47-A795-455346AC0757}" type="slidenum">
              <a:rPr lang="en-US" smtClean="0"/>
              <a:t>22</a:t>
            </a:fld>
            <a:endParaRPr lang="en-US"/>
          </a:p>
        </p:txBody>
      </p:sp>
      <p:pic>
        <p:nvPicPr>
          <p:cNvPr id="8" name="Picture 7" descr="A group of symbols with lines and symbols&#10;&#10;AI-generated content may be incorrect.">
            <a:extLst>
              <a:ext uri="{FF2B5EF4-FFF2-40B4-BE49-F238E27FC236}">
                <a16:creationId xmlns:a16="http://schemas.microsoft.com/office/drawing/2014/main" id="{F10273B3-5D40-32F1-652C-6EB66B69E3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7849" y="3272890"/>
            <a:ext cx="4328237" cy="16496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CB54164-A240-3559-C451-1AC07864DDCA}"/>
              </a:ext>
            </a:extLst>
          </p:cNvPr>
          <p:cNvSpPr txBox="1"/>
          <p:nvPr/>
        </p:nvSpPr>
        <p:spPr>
          <a:xfrm>
            <a:off x="7465360" y="2674065"/>
            <a:ext cx="5370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❌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9284990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63F34-1572-7A61-CC66-B2C151C40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0F0D3-89E7-6176-DE9D-362CDC399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Road 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C4A02-1A42-3E2A-F2D8-5DB92567D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Motivation</a:t>
            </a:r>
          </a:p>
          <a:p>
            <a:pPr marL="0" indent="0">
              <a:buNone/>
            </a:pPr>
            <a:r>
              <a:rPr lang="en-US" dirty="0"/>
              <a:t>Background</a:t>
            </a:r>
          </a:p>
          <a:p>
            <a:pPr lvl="1"/>
            <a:r>
              <a:rPr lang="en-US" dirty="0"/>
              <a:t>Zones as a Difference Bound Matrix (DBM)</a:t>
            </a:r>
          </a:p>
          <a:p>
            <a:pPr marL="0" indent="0">
              <a:buNone/>
            </a:pPr>
            <a:r>
              <a:rPr lang="en-US" dirty="0"/>
              <a:t>Contributions</a:t>
            </a:r>
          </a:p>
          <a:p>
            <a:pPr lvl="1"/>
            <a:r>
              <a:rPr lang="en-US" dirty="0"/>
              <a:t>Extending DBM</a:t>
            </a:r>
          </a:p>
          <a:p>
            <a:pPr lvl="1"/>
            <a:r>
              <a:rPr lang="en-US" dirty="0"/>
              <a:t>A domain of TVPI constraints with templates</a:t>
            </a:r>
          </a:p>
          <a:p>
            <a:pPr lvl="1"/>
            <a:r>
              <a:rPr lang="en-US" dirty="0">
                <a:solidFill>
                  <a:srgbClr val="FFA500"/>
                </a:solidFill>
              </a:rPr>
              <a:t>Implementation and Experiments</a:t>
            </a:r>
          </a:p>
          <a:p>
            <a:pPr marL="0" indent="0">
              <a:buNone/>
            </a:pPr>
            <a:r>
              <a:rPr lang="en-US" dirty="0"/>
              <a:t>Conclusion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5C655-7A9C-0BA7-C56F-3DA9105F8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72BF3-52D2-AC47-A795-455346AC075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104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5DF55-ED77-9DE0-2142-CD94A0583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28F7F-FEEB-6DB7-3D90-9A9930D20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Template DBM is implemented in Crab [VSTTE 21] as an extension of Zones [SAS 16]:</a:t>
            </a:r>
          </a:p>
          <a:p>
            <a:pPr lvl="1"/>
            <a:r>
              <a:rPr lang="en-US" dirty="0"/>
              <a:t>DBM as a </a:t>
            </a:r>
            <a:r>
              <a:rPr lang="en-US" dirty="0">
                <a:solidFill>
                  <a:srgbClr val="FFA500"/>
                </a:solidFill>
              </a:rPr>
              <a:t>direct graph</a:t>
            </a:r>
          </a:p>
          <a:p>
            <a:pPr lvl="1"/>
            <a:r>
              <a:rPr lang="en-CA" dirty="0"/>
              <a:t>In practice, DBM represents </a:t>
            </a:r>
            <a:r>
              <a:rPr lang="en-CA" dirty="0">
                <a:solidFill>
                  <a:srgbClr val="FFA500"/>
                </a:solidFill>
              </a:rPr>
              <a:t>sparse constraint systems</a:t>
            </a:r>
          </a:p>
          <a:p>
            <a:pPr lvl="1"/>
            <a:r>
              <a:rPr lang="en-US" dirty="0"/>
              <a:t>Implemented a special incremental saturation on top of DBM (details in Section 3.2 and 5) </a:t>
            </a:r>
          </a:p>
          <a:p>
            <a:pPr marL="0" indent="0">
              <a:buNone/>
            </a:pPr>
            <a:r>
              <a:rPr lang="en-US" dirty="0"/>
              <a:t>Code available at </a:t>
            </a:r>
            <a:r>
              <a:rPr lang="en-US" dirty="0">
                <a:hlinkClick r:id="rId3"/>
              </a:rPr>
              <a:t>https://github.com/LinerSu/crab/tree/tvpi_dbm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Artifact available at </a:t>
            </a:r>
            <a:r>
              <a:rPr lang="en-US" dirty="0">
                <a:hlinkClick r:id="rId4"/>
              </a:rPr>
              <a:t>https://doi.org/10.5281/zenodo.16075045</a:t>
            </a:r>
            <a:r>
              <a:rPr lang="en-US" dirty="0"/>
              <a:t>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1A024-08FC-BAA0-3DA2-33322DEE7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72BF3-52D2-AC47-A795-455346AC0757}" type="slidenum">
              <a:rPr lang="en-US" smtClean="0"/>
              <a:t>24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358EF0-516C-61A5-13A7-4558AF11BEF7}"/>
              </a:ext>
            </a:extLst>
          </p:cNvPr>
          <p:cNvSpPr txBox="1"/>
          <p:nvPr/>
        </p:nvSpPr>
        <p:spPr>
          <a:xfrm>
            <a:off x="2424376" y="5525353"/>
            <a:ext cx="7700699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/>
              <a:t>[VSTTE 21]: Arie Gurfinkel, Jorge A. Navas: Abstract Interpretation of LLVM with a Region-Based Memory Model.</a:t>
            </a:r>
          </a:p>
          <a:p>
            <a:r>
              <a:rPr lang="en-US" sz="1600" dirty="0"/>
              <a:t>[SAS 16]: Graeme Gange et al.: Exploiting Sparsity in Difference-Bound Matrices</a:t>
            </a:r>
          </a:p>
        </p:txBody>
      </p:sp>
    </p:spTree>
    <p:extLst>
      <p:ext uri="{BB962C8B-B14F-4D97-AF65-F5344CB8AC3E}">
        <p14:creationId xmlns:p14="http://schemas.microsoft.com/office/powerpoint/2010/main" val="37663794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36247-B637-C0A4-8261-6DB41EB06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44177-29F9-9B8F-7D38-4ADA09D37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Experiment for Template DBM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9F421-2AB5-9B18-8728-71E78441E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We reuse a case study on [VMCAI 25].</a:t>
            </a:r>
          </a:p>
          <a:p>
            <a:r>
              <a:rPr lang="en-US" dirty="0"/>
              <a:t>A pipeline integrates </a:t>
            </a:r>
            <a:r>
              <a:rPr lang="en-US" dirty="0">
                <a:solidFill>
                  <a:srgbClr val="FFA500"/>
                </a:solidFill>
              </a:rPr>
              <a:t>abstract interpreter </a:t>
            </a:r>
            <a:r>
              <a:rPr lang="en-US" dirty="0"/>
              <a:t>(</a:t>
            </a:r>
            <a:r>
              <a:rPr lang="en-US" dirty="0" err="1"/>
              <a:t>AbsInt</a:t>
            </a:r>
            <a:r>
              <a:rPr lang="en-US" dirty="0"/>
              <a:t>) with </a:t>
            </a:r>
            <a:r>
              <a:rPr lang="en-US" dirty="0">
                <a:solidFill>
                  <a:srgbClr val="FFA500"/>
                </a:solidFill>
              </a:rPr>
              <a:t>bounded model checker</a:t>
            </a:r>
            <a:r>
              <a:rPr lang="en-US" dirty="0"/>
              <a:t> (BMC)</a:t>
            </a:r>
          </a:p>
          <a:p>
            <a:pPr marL="0" indent="0">
              <a:buNone/>
            </a:pPr>
            <a:r>
              <a:rPr lang="en-US" dirty="0"/>
              <a:t>Experiment: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Before unrolling: </a:t>
            </a:r>
            <a:r>
              <a:rPr lang="en-US" dirty="0" err="1"/>
              <a:t>AbsInt</a:t>
            </a:r>
            <a:r>
              <a:rPr lang="en-US" dirty="0"/>
              <a:t> proves</a:t>
            </a:r>
            <a:r>
              <a:rPr lang="zh-CN" altLang="en-US" dirty="0"/>
              <a:t> </a:t>
            </a:r>
            <a:r>
              <a:rPr lang="en-US" dirty="0"/>
              <a:t>checks and add assumption for these checks</a:t>
            </a:r>
          </a:p>
          <a:p>
            <a:pPr lvl="1"/>
            <a:r>
              <a:rPr lang="en-US" dirty="0"/>
              <a:t>After unrolling: </a:t>
            </a:r>
            <a:r>
              <a:rPr lang="en-US" dirty="0" err="1"/>
              <a:t>AbsInt</a:t>
            </a:r>
            <a:r>
              <a:rPr lang="en-US" dirty="0"/>
              <a:t> handles </a:t>
            </a:r>
            <a:r>
              <a:rPr lang="en-US" altLang="zh-CN" dirty="0"/>
              <a:t>remaining </a:t>
            </a:r>
            <a:r>
              <a:rPr lang="en-US" dirty="0"/>
              <a:t>checks</a:t>
            </a:r>
          </a:p>
          <a:p>
            <a:r>
              <a:rPr lang="en-US" b="1" u="sng" dirty="0"/>
              <a:t>Goal</a:t>
            </a:r>
            <a:r>
              <a:rPr lang="en-US" dirty="0"/>
              <a:t>: </a:t>
            </a:r>
            <a:r>
              <a:rPr lang="en-CA" dirty="0" err="1"/>
              <a:t>AbsInt</a:t>
            </a:r>
            <a:r>
              <a:rPr lang="en-CA" dirty="0"/>
              <a:t> proves mem assertions effectively before passing to BMC</a:t>
            </a:r>
            <a:endParaRPr lang="en-US" dirty="0"/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CC5CF-5C21-08B8-7CF6-5F51B0100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72BF3-52D2-AC47-A795-455346AC0757}" type="slidenum">
              <a:rPr lang="en-US" smtClean="0"/>
              <a:t>25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440435-BBFF-CAEA-A9A3-5E6BE8696DC4}"/>
              </a:ext>
            </a:extLst>
          </p:cNvPr>
          <p:cNvSpPr txBox="1"/>
          <p:nvPr/>
        </p:nvSpPr>
        <p:spPr>
          <a:xfrm>
            <a:off x="2100526" y="6123543"/>
            <a:ext cx="7700699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[VMCAI 25]: Yusen Su et al.: </a:t>
            </a:r>
            <a:r>
              <a:rPr lang="en-CA" sz="1600" dirty="0"/>
              <a:t>Automatic Inference of Relational Object Invariants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249FFD-3F21-C769-7A9B-009C643AD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836" y="3215640"/>
            <a:ext cx="9448327" cy="1706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3590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3EFFD-4785-6614-7ED0-4E2C95F25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Experiment for Template DBM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8FF0B8-B026-8BEC-AD70-1B09499275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Template DBM vs. Zones vs. </a:t>
                </a:r>
                <a:r>
                  <a:rPr lang="en-US" dirty="0" err="1"/>
                  <a:t>Polyhedra</a:t>
                </a:r>
                <a:endParaRPr lang="en-US" dirty="0"/>
              </a:p>
              <a:p>
                <a:r>
                  <a:rPr lang="en-US" dirty="0"/>
                  <a:t>Benchmarks: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A500"/>
                        </a:solidFill>
                        <a:latin typeface="Cambria Math" panose="02040503050406030204" pitchFamily="18" charset="0"/>
                      </a:rPr>
                      <m:t>139</m:t>
                    </m:r>
                  </m:oMath>
                </a14:m>
                <a:r>
                  <a:rPr lang="en-US" dirty="0">
                    <a:solidFill>
                      <a:srgbClr val="FFA500"/>
                    </a:solidFill>
                  </a:rPr>
                  <a:t> proof harnesses </a:t>
                </a:r>
                <a:r>
                  <a:rPr lang="en-US" dirty="0"/>
                  <a:t>written in C</a:t>
                </a:r>
              </a:p>
              <a:p>
                <a:r>
                  <a:rPr lang="en-US" dirty="0"/>
                  <a:t>Timeout threshold for the pipeline: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A500"/>
                        </a:solidFill>
                        <a:latin typeface="Cambria Math" panose="02040503050406030204" pitchFamily="18" charset="0"/>
                      </a:rPr>
                      <m:t>600</m:t>
                    </m:r>
                  </m:oMath>
                </a14:m>
                <a:r>
                  <a:rPr lang="en-US" dirty="0">
                    <a:solidFill>
                      <a:srgbClr val="FFA500"/>
                    </a:solidFill>
                  </a:rPr>
                  <a:t> seconds</a:t>
                </a:r>
                <a:endParaRPr lang="en-US" dirty="0"/>
              </a:p>
              <a:p>
                <a:r>
                  <a:rPr lang="en-US" dirty="0"/>
                  <a:t>For template DBM, we select </a:t>
                </a:r>
                <a:r>
                  <a:rPr lang="en-US" dirty="0">
                    <a:solidFill>
                      <a:srgbClr val="FFA500"/>
                    </a:solidFill>
                  </a:rPr>
                  <a:t>11 heuristic numbers</a:t>
                </a:r>
                <a:r>
                  <a:rPr lang="en-US" dirty="0"/>
                  <a:t> as the coefficient template</a:t>
                </a:r>
              </a:p>
              <a:p>
                <a:pPr lvl="1"/>
                <a:r>
                  <a:rPr lang="en-US" dirty="0"/>
                  <a:t>Small numbers + common object size</a:t>
                </a:r>
              </a:p>
              <a:p>
                <a:r>
                  <a:rPr lang="en-US" altLang="zh-CN" dirty="0"/>
                  <a:t>Metrics for answering two questions:</a:t>
                </a:r>
              </a:p>
              <a:p>
                <a:pPr lvl="1"/>
                <a:r>
                  <a:rPr lang="en-US" altLang="zh-CN" dirty="0">
                    <a:solidFill>
                      <a:srgbClr val="FFA500"/>
                    </a:solidFill>
                  </a:rPr>
                  <a:t>Performance</a:t>
                </a:r>
              </a:p>
              <a:p>
                <a:pPr lvl="2"/>
                <a:r>
                  <a:rPr lang="en-CA" dirty="0"/>
                  <a:t>Is Template DBM faster than </a:t>
                </a:r>
                <a:r>
                  <a:rPr lang="en-CA" dirty="0" err="1"/>
                  <a:t>Polyhedra</a:t>
                </a:r>
                <a:r>
                  <a:rPr lang="en-CA" dirty="0"/>
                  <a:t> but close to Zones</a:t>
                </a:r>
                <a:r>
                  <a:rPr lang="en-US" altLang="zh-CN" dirty="0"/>
                  <a:t>?</a:t>
                </a:r>
              </a:p>
              <a:p>
                <a:pPr lvl="1"/>
                <a:r>
                  <a:rPr lang="en-US" altLang="zh-CN" dirty="0">
                    <a:solidFill>
                      <a:srgbClr val="FFA500"/>
                    </a:solidFill>
                  </a:rPr>
                  <a:t>Precision</a:t>
                </a:r>
                <a:r>
                  <a:rPr lang="zh-CN" altLang="en-US" dirty="0"/>
                  <a:t> </a:t>
                </a:r>
                <a:endParaRPr lang="en-US" altLang="zh-CN" dirty="0"/>
              </a:p>
              <a:p>
                <a:pPr lvl="2"/>
                <a:r>
                  <a:rPr lang="en-CA" dirty="0"/>
                  <a:t>Does Template DBM provide greater precision than Zones for proving assertions?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8FF0B8-B026-8BEC-AD70-1B09499275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5" t="-3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8338D-14AC-4BAF-B8C5-90E26D91B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72BF3-52D2-AC47-A795-455346AC075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4233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52D2B25C-CD7A-5C4C-BBB3-0B9E4F0C4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9074" y="823174"/>
            <a:ext cx="5211651" cy="5211651"/>
          </a:xfrm>
          <a:prstGeom prst="rect">
            <a:avLst/>
          </a:prstGeom>
        </p:spPr>
      </p:pic>
      <p:pic>
        <p:nvPicPr>
          <p:cNvPr id="15" name="Picture 14" descr="A screen shot of a graph&#10;&#10;AI-generated content may be incorrect.">
            <a:extLst>
              <a:ext uri="{FF2B5EF4-FFF2-40B4-BE49-F238E27FC236}">
                <a16:creationId xmlns:a16="http://schemas.microsoft.com/office/drawing/2014/main" id="{A4F3FCE3-D6AE-8FA2-E930-49D05AF500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96" y="689081"/>
            <a:ext cx="5480500" cy="5480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DFF8E4-98AF-1F01-8913-BF350DAB1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Statistics Results (Performance)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1F91D-11A1-14D9-5FA8-C32E92EE0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72BF3-52D2-AC47-A795-455346AC0757}" type="slidenum">
              <a:rPr lang="en-US" smtClean="0"/>
              <a:t>27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8A635A-4DC6-A7BF-F141-6604665A8DD6}"/>
              </a:ext>
            </a:extLst>
          </p:cNvPr>
          <p:cNvSpPr txBox="1"/>
          <p:nvPr/>
        </p:nvSpPr>
        <p:spPr>
          <a:xfrm>
            <a:off x="707900" y="5914320"/>
            <a:ext cx="5775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Running time per task close to Zones (UTVPI) on average.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98C648-B588-F985-3F44-37D83526C00C}"/>
              </a:ext>
            </a:extLst>
          </p:cNvPr>
          <p:cNvSpPr txBox="1"/>
          <p:nvPr/>
        </p:nvSpPr>
        <p:spPr>
          <a:xfrm>
            <a:off x="6506318" y="5904358"/>
            <a:ext cx="5293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Template DBM has less timeout than </a:t>
            </a:r>
            <a:r>
              <a:rPr lang="en-US" err="1"/>
              <a:t>Polyhedra</a:t>
            </a:r>
            <a:r>
              <a:rPr lang="en-US"/>
              <a:t> (PK)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B7C8FA-24CE-9986-5A48-1C054640089A}"/>
              </a:ext>
            </a:extLst>
          </p:cNvPr>
          <p:cNvSpPr txBox="1"/>
          <p:nvPr/>
        </p:nvSpPr>
        <p:spPr>
          <a:xfrm>
            <a:off x="2446365" y="3601146"/>
            <a:ext cx="7811011" cy="52322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A" sz="2800"/>
              <a:t>Template DBM shows the expected performance.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412109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246EAA-58F6-151A-3DCF-FCA171135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18" y="1614190"/>
            <a:ext cx="10752832" cy="36061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7C9CA75-A803-3A46-1C19-CCE17105C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Statistics Results (Precision)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5142C-028B-28DB-2229-4DCF3DB2F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72BF3-52D2-AC47-A795-455346AC0757}" type="slidenum">
              <a:rPr lang="en-US" smtClean="0"/>
              <a:t>28</a:t>
            </a:fld>
            <a:endParaRPr lang="en-US"/>
          </a:p>
        </p:txBody>
      </p:sp>
      <p:sp>
        <p:nvSpPr>
          <p:cNvPr id="9" name="Line Callout 3 (No Border) 8">
            <a:extLst>
              <a:ext uri="{FF2B5EF4-FFF2-40B4-BE49-F238E27FC236}">
                <a16:creationId xmlns:a16="http://schemas.microsoft.com/office/drawing/2014/main" id="{B80A3B3D-64F0-9D99-6F1B-6A248CAC6D81}"/>
              </a:ext>
            </a:extLst>
          </p:cNvPr>
          <p:cNvSpPr/>
          <p:nvPr/>
        </p:nvSpPr>
        <p:spPr>
          <a:xfrm>
            <a:off x="2047740" y="1326164"/>
            <a:ext cx="2408349" cy="599539"/>
          </a:xfrm>
          <a:prstGeom prst="callout3">
            <a:avLst>
              <a:gd name="adj1" fmla="val 25195"/>
              <a:gd name="adj2" fmla="val -312"/>
              <a:gd name="adj3" fmla="val 25195"/>
              <a:gd name="adj4" fmla="val -11320"/>
              <a:gd name="adj5" fmla="val 91407"/>
              <a:gd name="adj6" fmla="val -11320"/>
              <a:gd name="adj7" fmla="val 198888"/>
              <a:gd name="adj8" fmla="val 24287"/>
            </a:avLst>
          </a:prstGeom>
          <a:ln w="25400"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The motivating example from here.</a:t>
            </a: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878389-E958-1C2C-FF98-EB4B8B21D0A2}"/>
              </a:ext>
            </a:extLst>
          </p:cNvPr>
          <p:cNvSpPr/>
          <p:nvPr/>
        </p:nvSpPr>
        <p:spPr>
          <a:xfrm>
            <a:off x="4038600" y="2417962"/>
            <a:ext cx="7191777" cy="233765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663F1FA-E939-F148-5AFC-F41845F092C6}"/>
              </a:ext>
            </a:extLst>
          </p:cNvPr>
          <p:cNvSpPr/>
          <p:nvPr/>
        </p:nvSpPr>
        <p:spPr>
          <a:xfrm>
            <a:off x="4038599" y="3462002"/>
            <a:ext cx="7191777" cy="233765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2FD971-07A0-C1EB-244C-D6AE79B4F14A}"/>
              </a:ext>
            </a:extLst>
          </p:cNvPr>
          <p:cNvSpPr/>
          <p:nvPr/>
        </p:nvSpPr>
        <p:spPr>
          <a:xfrm>
            <a:off x="6862290" y="4075345"/>
            <a:ext cx="633213" cy="36512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608B2EC-A9E6-8063-D52D-C056AAEF0FF0}"/>
              </a:ext>
            </a:extLst>
          </p:cNvPr>
          <p:cNvSpPr/>
          <p:nvPr/>
        </p:nvSpPr>
        <p:spPr>
          <a:xfrm>
            <a:off x="10442618" y="4080966"/>
            <a:ext cx="633213" cy="36512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Line Callout 1 17">
            <a:extLst>
              <a:ext uri="{FF2B5EF4-FFF2-40B4-BE49-F238E27FC236}">
                <a16:creationId xmlns:a16="http://schemas.microsoft.com/office/drawing/2014/main" id="{435FD755-20B2-2BA3-34E4-135C2F459430}"/>
              </a:ext>
            </a:extLst>
          </p:cNvPr>
          <p:cNvSpPr/>
          <p:nvPr/>
        </p:nvSpPr>
        <p:spPr>
          <a:xfrm>
            <a:off x="9403723" y="726625"/>
            <a:ext cx="2711001" cy="599539"/>
          </a:xfrm>
          <a:prstGeom prst="borderCallout1">
            <a:avLst>
              <a:gd name="adj1" fmla="val 99174"/>
              <a:gd name="adj2" fmla="val 62643"/>
              <a:gd name="adj3" fmla="val 271983"/>
              <a:gd name="adj4" fmla="val 63196"/>
            </a:avLst>
          </a:prstGeom>
          <a:ln w="25400">
            <a:tailEnd type="triangle"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Template DBM proves more checks than Zones.</a:t>
            </a:r>
          </a:p>
        </p:txBody>
      </p: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71B4B3A4-B936-DD6F-45FD-48632B2FA5DA}"/>
              </a:ext>
            </a:extLst>
          </p:cNvPr>
          <p:cNvCxnSpPr>
            <a:cxnSpLocks/>
          </p:cNvCxnSpPr>
          <p:nvPr/>
        </p:nvCxnSpPr>
        <p:spPr>
          <a:xfrm rot="5400000">
            <a:off x="10146897" y="2255099"/>
            <a:ext cx="2135839" cy="277970"/>
          </a:xfrm>
          <a:prstGeom prst="bentConnector3">
            <a:avLst>
              <a:gd name="adj1" fmla="val 66884"/>
            </a:avLst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EDC7396-F5B3-367B-4B5E-63D569C444A1}"/>
              </a:ext>
            </a:extLst>
          </p:cNvPr>
          <p:cNvSpPr txBox="1"/>
          <p:nvPr/>
        </p:nvSpPr>
        <p:spPr>
          <a:xfrm>
            <a:off x="7403205" y="5452537"/>
            <a:ext cx="3039413" cy="369332"/>
          </a:xfrm>
          <a:prstGeom prst="rect">
            <a:avLst/>
          </a:prstGeom>
          <a:gradFill>
            <a:gsLst>
              <a:gs pos="0">
                <a:srgbClr val="C00000"/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</a:gra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A">
                <a:solidFill>
                  <a:schemeClr val="bg1"/>
                </a:solidFill>
              </a:rPr>
              <a:t>PK join coefficient-overflows.</a:t>
            </a:r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7A9253FA-A25C-B4E9-65FC-B76EB728CBCF}"/>
              </a:ext>
            </a:extLst>
          </p:cNvPr>
          <p:cNvCxnSpPr/>
          <p:nvPr/>
        </p:nvCxnSpPr>
        <p:spPr>
          <a:xfrm rot="16200000" flipV="1">
            <a:off x="7120646" y="4815328"/>
            <a:ext cx="994415" cy="244700"/>
          </a:xfrm>
          <a:prstGeom prst="bentConnector3">
            <a:avLst>
              <a:gd name="adj1" fmla="val 21507"/>
            </a:avLst>
          </a:prstGeom>
          <a:ln w="254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CE1FED94-4D9C-944E-8D6E-45DB363BAFA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869209" y="4769178"/>
            <a:ext cx="994416" cy="337001"/>
          </a:xfrm>
          <a:prstGeom prst="bentConnector3">
            <a:avLst>
              <a:gd name="adj1" fmla="val 26688"/>
            </a:avLst>
          </a:prstGeom>
          <a:ln w="254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9648FD51-06E9-CBCC-158E-19BFB79F8D2F}"/>
              </a:ext>
            </a:extLst>
          </p:cNvPr>
          <p:cNvSpPr txBox="1"/>
          <p:nvPr/>
        </p:nvSpPr>
        <p:spPr>
          <a:xfrm>
            <a:off x="2500648" y="5891919"/>
            <a:ext cx="7190704" cy="52322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A" sz="2800"/>
              <a:t>Template DBM shows the expected precision.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4056631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9" grpId="0" animBg="1"/>
      <p:bldP spid="3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64605-73F7-BF42-3FA9-B00335B1E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2A51BF-15F3-DF1A-D87C-02E3DC7E92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A new numerical domain expressing a subset of TVPI constraints</a:t>
                </a:r>
              </a:p>
              <a:p>
                <a:pPr lvl="1"/>
                <a:r>
                  <a:rPr lang="en-US" dirty="0"/>
                  <a:t>Leverage of DBM structure, build domain operation on top of it</a:t>
                </a:r>
              </a:p>
              <a:p>
                <a:pPr lvl="1"/>
                <a:r>
                  <a:rPr lang="en-US" dirty="0"/>
                  <a:t>Implemented and experimented with the new domain</a:t>
                </a:r>
              </a:p>
              <a:p>
                <a:pPr lvl="1"/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Future work</a:t>
                </a:r>
              </a:p>
              <a:p>
                <a:pPr lvl="1"/>
                <a:r>
                  <a:rPr lang="en-US" dirty="0"/>
                  <a:t>Extend this work like Octagons to express general TVPI constraints</a:t>
                </a:r>
              </a:p>
              <a:p>
                <a:pPr lvl="2"/>
                <a:r>
                  <a:rPr lang="en-US" altLang="zh-CN" dirty="0"/>
                  <a:t>E.g.,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representing constraints like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≤3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Provide an automatic method to introduce coefficient template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2A51BF-15F3-DF1A-D87C-02E3DC7E92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6A2AD-83A0-259A-031F-E1B271CF7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72BF3-52D2-AC47-A795-455346AC0757}" type="slidenum">
              <a:rPr lang="en-US" smtClean="0"/>
              <a:t>29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5DBAC7-F383-151C-B853-8C433D839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Yusen Su</a:t>
            </a:r>
          </a:p>
        </p:txBody>
      </p:sp>
    </p:spTree>
    <p:extLst>
      <p:ext uri="{BB962C8B-B14F-4D97-AF65-F5344CB8AC3E}">
        <p14:creationId xmlns:p14="http://schemas.microsoft.com/office/powerpoint/2010/main" val="21287790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5EFE8-B9B5-20E9-EABD-9CADEDC81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CDF934-CCEB-D6B5-0F8A-0E4F74537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72BF3-52D2-AC47-A795-455346AC0757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BF07D2-1D27-E021-AA5B-EE5A0EA859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8500" y="1841500"/>
            <a:ext cx="3175000" cy="3175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5191EAD-BE4C-1385-6805-8AADCC9584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841500"/>
            <a:ext cx="3175000" cy="3175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BE18069-AD92-84E9-1824-CD7BCF3DCC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8800" y="1841500"/>
            <a:ext cx="3175000" cy="31750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02AFD14-5264-FB38-5A44-FA417FD3533D}"/>
              </a:ext>
            </a:extLst>
          </p:cNvPr>
          <p:cNvSpPr txBox="1"/>
          <p:nvPr/>
        </p:nvSpPr>
        <p:spPr>
          <a:xfrm>
            <a:off x="1820117" y="5019040"/>
            <a:ext cx="12111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Paper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22C296-9193-64B4-DD47-11E2C5927095}"/>
              </a:ext>
            </a:extLst>
          </p:cNvPr>
          <p:cNvSpPr txBox="1"/>
          <p:nvPr/>
        </p:nvSpPr>
        <p:spPr>
          <a:xfrm>
            <a:off x="5490417" y="5019040"/>
            <a:ext cx="14768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Artifact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A8D38A-B8E3-A366-05B8-B47B71E079E6}"/>
              </a:ext>
            </a:extLst>
          </p:cNvPr>
          <p:cNvSpPr txBox="1"/>
          <p:nvPr/>
        </p:nvSpPr>
        <p:spPr>
          <a:xfrm>
            <a:off x="9160717" y="5016500"/>
            <a:ext cx="11416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22000588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55675-E447-6661-8D86-9D27C2214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Challenge of Using </a:t>
            </a:r>
            <a:r>
              <a:rPr lang="en-US" dirty="0" err="1"/>
              <a:t>Polyhedra</a:t>
            </a:r>
            <a:r>
              <a:rPr lang="en-US" dirty="0"/>
              <a:t> and TVPI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F5FA0-4518-5091-9D32-44EFDA198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CA" dirty="0"/>
              <a:t>Challenge: do not scale up on a program with larger number of variables</a:t>
            </a:r>
            <a:endParaRPr lang="en-US" dirty="0"/>
          </a:p>
          <a:p>
            <a:pPr lvl="1"/>
            <a:r>
              <a:rPr lang="en-US" dirty="0"/>
              <a:t>Constraints blow-up</a:t>
            </a:r>
          </a:p>
          <a:p>
            <a:pPr lvl="1"/>
            <a:endParaRPr lang="en-US" dirty="0"/>
          </a:p>
          <a:p>
            <a:r>
              <a:rPr lang="en-US" dirty="0"/>
              <a:t>Reason: cost on domain operations</a:t>
            </a:r>
          </a:p>
          <a:p>
            <a:pPr lvl="1"/>
            <a:r>
              <a:rPr lang="en-US" dirty="0"/>
              <a:t>Domain operation like Join</a:t>
            </a:r>
          </a:p>
          <a:p>
            <a:pPr lvl="2"/>
            <a:r>
              <a:rPr lang="en-US" dirty="0"/>
              <a:t>Implement as a convex hull algorithm (expensive)</a:t>
            </a:r>
          </a:p>
          <a:p>
            <a:pPr lvl="1"/>
            <a:endParaRPr lang="en-US" dirty="0"/>
          </a:p>
          <a:p>
            <a:r>
              <a:rPr lang="en-US" dirty="0" err="1"/>
              <a:t>Polyhedra</a:t>
            </a:r>
            <a:endParaRPr lang="en-US" dirty="0"/>
          </a:p>
          <a:p>
            <a:pPr lvl="1"/>
            <a:r>
              <a:rPr lang="en-CA" dirty="0"/>
              <a:t>worst-case </a:t>
            </a:r>
            <a:r>
              <a:rPr lang="en-CA" dirty="0">
                <a:solidFill>
                  <a:srgbClr val="FFA500"/>
                </a:solidFill>
              </a:rPr>
              <a:t>exponential complexity </a:t>
            </a:r>
            <a:r>
              <a:rPr lang="en-CA" dirty="0"/>
              <a:t>in both time and space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Even TVPI has </a:t>
            </a:r>
            <a:r>
              <a:rPr lang="en-CA" dirty="0"/>
              <a:t>Quasi-cubic cost</a:t>
            </a:r>
            <a:r>
              <a:rPr lang="en-US" dirty="0"/>
              <a:t> runtime operations</a:t>
            </a:r>
          </a:p>
          <a:p>
            <a:pPr lvl="1"/>
            <a:r>
              <a:rPr lang="en-CA" dirty="0">
                <a:solidFill>
                  <a:srgbClr val="FFA500"/>
                </a:solidFill>
              </a:rPr>
              <a:t>Arbitrary coefficients </a:t>
            </a:r>
            <a:r>
              <a:rPr lang="en-CA" dirty="0"/>
              <a:t>make the number of constraints can still grow large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323E7-7178-0347-3FF6-8071A8CA9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72BF3-52D2-AC47-A795-455346AC075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5176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A254-B633-EF15-F349-4AFE88E1A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Incremental Saturation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60987-8289-4C1C-68B0-BA920F0564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Saturation algorithm has </a:t>
            </a:r>
            <a:r>
              <a:rPr lang="en-CA" dirty="0"/>
              <a:t>Quasi-cubic cost</a:t>
            </a:r>
            <a:endParaRPr lang="en-US" dirty="0"/>
          </a:p>
          <a:p>
            <a:pPr lvl="1"/>
            <a:r>
              <a:rPr lang="en-US" dirty="0"/>
              <a:t>In analysis, only few constraints are added at a time</a:t>
            </a:r>
          </a:p>
          <a:p>
            <a:pPr lvl="1"/>
            <a:r>
              <a:rPr lang="en-US" dirty="0"/>
              <a:t>You do not need to run the resultant rule for all pairs</a:t>
            </a:r>
          </a:p>
          <a:p>
            <a:pPr marL="0" indent="0">
              <a:buNone/>
            </a:pPr>
            <a:r>
              <a:rPr lang="en-US" dirty="0"/>
              <a:t>Incremental saturation only updates </a:t>
            </a:r>
            <a:r>
              <a:rPr lang="en-US" dirty="0" err="1"/>
              <a:t>tDBM</a:t>
            </a:r>
            <a:r>
              <a:rPr lang="en-US" dirty="0"/>
              <a:t> for </a:t>
            </a:r>
            <a:r>
              <a:rPr lang="en-CA" dirty="0"/>
              <a:t>impacted rows/cols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6BCE10-611F-CB2E-3DED-DBAAFB02B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72BF3-52D2-AC47-A795-455346AC0757}" type="slidenum">
              <a:rPr lang="en-US" smtClean="0"/>
              <a:t>32</a:t>
            </a:fld>
            <a:endParaRPr lang="en-US"/>
          </a:p>
        </p:txBody>
      </p:sp>
      <p:pic>
        <p:nvPicPr>
          <p:cNvPr id="7" name="Picture 6" descr="A diagram of a algorithm&#10;&#10;AI-generated content may be incorrect.">
            <a:extLst>
              <a:ext uri="{FF2B5EF4-FFF2-40B4-BE49-F238E27FC236}">
                <a16:creationId xmlns:a16="http://schemas.microsoft.com/office/drawing/2014/main" id="{15491FFE-4A61-ABA2-F6EE-2513C70AF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2" y="315912"/>
            <a:ext cx="5759070" cy="6040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547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2543F-063E-0277-3932-3082DEFD3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Experiment – reuse a 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9DF8A-4960-4605-3904-5E46770B6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AI4BMC: pipeline integrates abstract interpreter (</a:t>
            </a:r>
            <a:r>
              <a:rPr lang="en-US" dirty="0" err="1"/>
              <a:t>AbsInt</a:t>
            </a:r>
            <a:r>
              <a:rPr lang="en-US" dirty="0"/>
              <a:t>) with bounded model checker (BMC)</a:t>
            </a:r>
          </a:p>
          <a:p>
            <a:r>
              <a:rPr lang="en-US" b="1" u="sng" dirty="0"/>
              <a:t>Goal</a:t>
            </a:r>
            <a:r>
              <a:rPr lang="en-US" dirty="0"/>
              <a:t>: </a:t>
            </a:r>
            <a:r>
              <a:rPr lang="en-US" dirty="0" err="1"/>
              <a:t>AbsInt</a:t>
            </a:r>
            <a:r>
              <a:rPr lang="en-US" dirty="0"/>
              <a:t> removes buffer checks to reduce BMC overhead</a:t>
            </a:r>
          </a:p>
          <a:p>
            <a:r>
              <a:rPr lang="en-US" dirty="0"/>
              <a:t>Pipeline: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Before unrolling: </a:t>
            </a:r>
            <a:r>
              <a:rPr lang="en-US" dirty="0" err="1"/>
              <a:t>AbsInt</a:t>
            </a:r>
            <a:r>
              <a:rPr lang="en-US" dirty="0"/>
              <a:t> proves</a:t>
            </a:r>
            <a:r>
              <a:rPr lang="zh-CN" altLang="en-US" dirty="0"/>
              <a:t> </a:t>
            </a:r>
            <a:r>
              <a:rPr lang="en-US" dirty="0"/>
              <a:t>checks and </a:t>
            </a:r>
            <a:r>
              <a:rPr lang="en-US" dirty="0">
                <a:solidFill>
                  <a:srgbClr val="FFA500"/>
                </a:solidFill>
              </a:rPr>
              <a:t>discharges </a:t>
            </a:r>
            <a:r>
              <a:rPr lang="en-US" dirty="0"/>
              <a:t>proved ones</a:t>
            </a:r>
          </a:p>
          <a:p>
            <a:pPr lvl="1"/>
            <a:r>
              <a:rPr lang="en-US" dirty="0"/>
              <a:t>After unrolling: </a:t>
            </a:r>
            <a:r>
              <a:rPr lang="en-US" dirty="0" err="1"/>
              <a:t>AbsInt</a:t>
            </a:r>
            <a:r>
              <a:rPr lang="en-US" dirty="0"/>
              <a:t> handles </a:t>
            </a:r>
            <a:r>
              <a:rPr lang="en-US" altLang="zh-CN" dirty="0"/>
              <a:t>remaining </a:t>
            </a:r>
            <a:r>
              <a:rPr lang="en-US" dirty="0"/>
              <a:t>checks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361EC-7102-AB8A-7D09-1116CCA66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72BF3-52D2-AC47-A795-455346AC0757}" type="slidenum">
              <a:rPr lang="en-US" smtClean="0"/>
              <a:t>33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9B0DDE4-59EC-C1FF-37F7-0E32D0FD6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070" y="3619769"/>
            <a:ext cx="8735860" cy="152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642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A7936F9-F786-CE4A-B26E-1880C16205A1}">
  <we:reference id="wa200005566" version="3.0.0.2" store="en-US" storeType="OMEX"/>
  <we:alternateReferences>
    <we:reference id="wa200005566" version="3.0.0.2" store="en-US" storeType="OMEX"/>
  </we:alternateReferences>
  <we:properties/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723a5a87-f39a-4a22-9247-3fc240c01396}" enabled="0" method="" siteId="{723a5a87-f39a-4a22-9247-3fc240c0139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2400</TotalTime>
  <Words>5448</Words>
  <Application>Microsoft Macintosh PowerPoint</Application>
  <PresentationFormat>Widescreen</PresentationFormat>
  <Paragraphs>841</Paragraphs>
  <Slides>33</Slides>
  <Notes>32</Notes>
  <HiddenSlides>3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Aptos</vt:lpstr>
      <vt:lpstr>Aptos Display</vt:lpstr>
      <vt:lpstr>Arial</vt:lpstr>
      <vt:lpstr>Cambria Math</vt:lpstr>
      <vt:lpstr>Consolas</vt:lpstr>
      <vt:lpstr>Courier New</vt:lpstr>
      <vt:lpstr>Menlo</vt:lpstr>
      <vt:lpstr>Wingdings</vt:lpstr>
      <vt:lpstr>Office Theme</vt:lpstr>
      <vt:lpstr>Template DBM: A New  Weakly Relational Domain for Efficient Memory-Access Validation</vt:lpstr>
      <vt:lpstr>Motivation</vt:lpstr>
      <vt:lpstr>Relational Object Invariants</vt:lpstr>
      <vt:lpstr>Bounds Checking</vt:lpstr>
      <vt:lpstr>Static Analysis</vt:lpstr>
      <vt:lpstr>Previous Work on Numerical Domains</vt:lpstr>
      <vt:lpstr>Our Work</vt:lpstr>
      <vt:lpstr>Road Map</vt:lpstr>
      <vt:lpstr>Difference Bound Matrix (DBM)</vt:lpstr>
      <vt:lpstr>Inferring all implicit UTVPI constraints</vt:lpstr>
      <vt:lpstr>Road Map</vt:lpstr>
      <vt:lpstr>A template DBM (tDBM)</vt:lpstr>
      <vt:lpstr>Encoding Constraints in tDBM (example)</vt:lpstr>
      <vt:lpstr>Inferring implicit constraints</vt:lpstr>
      <vt:lpstr>What did we miss?</vt:lpstr>
      <vt:lpstr>tDBM Saturation ([Nelson 78])</vt:lpstr>
      <vt:lpstr>Deriving implicit constraints (DBM ver.)</vt:lpstr>
      <vt:lpstr>Deriving implicit constraints (Example)</vt:lpstr>
      <vt:lpstr>tDBM Saturation (DBM ver.)</vt:lpstr>
      <vt:lpstr>Road Map</vt:lpstr>
      <vt:lpstr>Template DBM Abstract Domain</vt:lpstr>
      <vt:lpstr>Domain Operations</vt:lpstr>
      <vt:lpstr>Road Map</vt:lpstr>
      <vt:lpstr>Implementation</vt:lpstr>
      <vt:lpstr>Experiment for Template DBM </vt:lpstr>
      <vt:lpstr>Experiment for Template DBM </vt:lpstr>
      <vt:lpstr>Statistics Results (Performance)</vt:lpstr>
      <vt:lpstr>Statistics Results (Precision)</vt:lpstr>
      <vt:lpstr>Conclusion</vt:lpstr>
      <vt:lpstr>Questions?</vt:lpstr>
      <vt:lpstr>A Challenge of Using Polyhedra and TVPI </vt:lpstr>
      <vt:lpstr>Incremental Saturation</vt:lpstr>
      <vt:lpstr>Experiment – reuse a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Yusen Su</dc:creator>
  <cp:lastModifiedBy>Yusen Su</cp:lastModifiedBy>
  <cp:revision>2</cp:revision>
  <dcterms:created xsi:type="dcterms:W3CDTF">2025-09-12T14:24:50Z</dcterms:created>
  <dcterms:modified xsi:type="dcterms:W3CDTF">2025-10-07T05:07:28Z</dcterms:modified>
</cp:coreProperties>
</file>